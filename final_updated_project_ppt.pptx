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1" r:id="rId6"/>
    <p:sldId id="270" r:id="rId7"/>
    <p:sldId id="263" r:id="rId8"/>
    <p:sldId id="264" r:id="rId9"/>
    <p:sldId id="265" r:id="rId10"/>
    <p:sldId id="271" r:id="rId11"/>
    <p:sldId id="274" r:id="rId12"/>
    <p:sldId id="275" r:id="rId13"/>
    <p:sldId id="285" r:id="rId14"/>
    <p:sldId id="277" r:id="rId15"/>
    <p:sldId id="278" r:id="rId16"/>
    <p:sldId id="276" r:id="rId17"/>
    <p:sldId id="280" r:id="rId18"/>
    <p:sldId id="284" r:id="rId19"/>
    <p:sldId id="281" r:id="rId20"/>
    <p:sldId id="283" r:id="rId21"/>
    <p:sldId id="282" r:id="rId22"/>
    <p:sldId id="273" r:id="rId23"/>
    <p:sldId id="267" r:id="rId24"/>
    <p:sldId id="268" r:id="rId25"/>
    <p:sldId id="269" r:id="rId2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783FE3-6110-A8B4-035D-59007F9AB7B4}" v="224" dt="2026-03-12T17:53:51.13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p:cViewPr varScale="1">
        <p:scale>
          <a:sx n="92" d="100"/>
          <a:sy n="92" d="100"/>
        </p:scale>
        <p:origin x="1210" y="10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CAFCE106-6E94-4186-9CDD-114C29309657}" type="datetimeFigureOut">
              <a:rPr lang="en-IN" smtClean="0"/>
              <a:t>13-03-2026</a:t>
            </a:fld>
            <a:endParaRPr lang="en-IN" dirty="0"/>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EC6CB36F-351B-42FF-AD8D-F1CAD2033CFF}" type="slidenum">
              <a:rPr lang="en-IN" smtClean="0"/>
              <a:t>‹#›</a:t>
            </a:fld>
            <a:endParaRPr lang="en-IN" dirty="0"/>
          </a:p>
        </p:txBody>
      </p:sp>
    </p:spTree>
    <p:extLst>
      <p:ext uri="{BB962C8B-B14F-4D97-AF65-F5344CB8AC3E}">
        <p14:creationId xmlns:p14="http://schemas.microsoft.com/office/powerpoint/2010/main" val="3866255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C6CB36F-351B-42FF-AD8D-F1CAD2033CFF}" type="slidenum">
              <a:rPr lang="en-IN" smtClean="0"/>
              <a:t>24</a:t>
            </a:fld>
            <a:endParaRPr lang="en-IN" dirty="0"/>
          </a:p>
        </p:txBody>
      </p:sp>
    </p:spTree>
    <p:extLst>
      <p:ext uri="{BB962C8B-B14F-4D97-AF65-F5344CB8AC3E}">
        <p14:creationId xmlns:p14="http://schemas.microsoft.com/office/powerpoint/2010/main" val="817000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36575" y="568960"/>
            <a:ext cx="1960880" cy="518159"/>
          </a:xfrm>
          <a:prstGeom prst="rect">
            <a:avLst/>
          </a:prstGeom>
        </p:spPr>
        <p:txBody>
          <a:bodyPr wrap="square" lIns="0" tIns="0" rIns="0" bIns="0">
            <a:spAutoFit/>
          </a:bodyPr>
          <a:lstStyle>
            <a:lvl1pPr>
              <a:defRPr sz="3200" b="0" i="0">
                <a:solidFill>
                  <a:srgbClr val="434342"/>
                </a:solidFill>
                <a:latin typeface="Cambria"/>
                <a:cs typeface="Cambria"/>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434342"/>
                </a:solidFill>
                <a:latin typeface="Tahoma"/>
                <a:cs typeface="Tahoma"/>
              </a:defRPr>
            </a:lvl1pPr>
          </a:lstStyle>
          <a:p>
            <a:pPr marL="60960">
              <a:lnSpc>
                <a:spcPct val="100000"/>
              </a:lnSpc>
              <a:spcBef>
                <a:spcPts val="80"/>
              </a:spcBef>
            </a:pPr>
            <a:endParaRPr spc="-10" dirty="0"/>
          </a:p>
        </p:txBody>
      </p:sp>
      <p:sp>
        <p:nvSpPr>
          <p:cNvPr id="5" name="Holder 5"/>
          <p:cNvSpPr>
            <a:spLocks noGrp="1"/>
          </p:cNvSpPr>
          <p:nvPr>
            <p:ph type="dt" sz="half" idx="6"/>
          </p:nvPr>
        </p:nvSpPr>
        <p:spPr/>
        <p:txBody>
          <a:bodyPr lIns="0" tIns="0" rIns="0" bIns="0"/>
          <a:lstStyle>
            <a:lvl1pPr>
              <a:defRPr sz="1400" b="0" i="0">
                <a:solidFill>
                  <a:srgbClr val="434342"/>
                </a:solidFill>
                <a:latin typeface="Tahoma"/>
                <a:cs typeface="Tahoma"/>
              </a:defRPr>
            </a:lvl1pPr>
          </a:lstStyle>
          <a:p>
            <a:pPr marL="12700">
              <a:lnSpc>
                <a:spcPct val="100000"/>
              </a:lnSpc>
              <a:spcBef>
                <a:spcPts val="80"/>
              </a:spcBef>
            </a:pPr>
            <a:r>
              <a:rPr spc="95" dirty="0"/>
              <a:t>Department</a:t>
            </a:r>
            <a:r>
              <a:rPr spc="-85" dirty="0"/>
              <a:t> </a:t>
            </a:r>
            <a:r>
              <a:rPr spc="60" dirty="0"/>
              <a:t>of</a:t>
            </a:r>
            <a:r>
              <a:rPr spc="-45" dirty="0"/>
              <a:t> </a:t>
            </a:r>
            <a:r>
              <a:rPr spc="-25" dirty="0"/>
              <a:t>EEE</a:t>
            </a:r>
          </a:p>
        </p:txBody>
      </p:sp>
      <p:sp>
        <p:nvSpPr>
          <p:cNvPr id="6" name="Holder 6"/>
          <p:cNvSpPr>
            <a:spLocks noGrp="1"/>
          </p:cNvSpPr>
          <p:nvPr>
            <p:ph type="sldNum" sz="quarter" idx="7"/>
          </p:nvPr>
        </p:nvSpPr>
        <p:spPr/>
        <p:txBody>
          <a:bodyPr lIns="0" tIns="0" rIns="0" bIns="0"/>
          <a:lstStyle>
            <a:lvl1pPr>
              <a:defRPr sz="1400" b="0" i="0">
                <a:solidFill>
                  <a:srgbClr val="434342"/>
                </a:solidFill>
                <a:latin typeface="Tahoma"/>
                <a:cs typeface="Tahoma"/>
              </a:defRPr>
            </a:lvl1pPr>
          </a:lstStyle>
          <a:p>
            <a:pPr marL="38100">
              <a:lnSpc>
                <a:spcPct val="100000"/>
              </a:lnSpc>
              <a:spcBef>
                <a:spcPts val="80"/>
              </a:spcBef>
            </a:pPr>
            <a:fld id="{81D60167-4931-47E6-BA6A-407CBD079E47}" type="slidenum">
              <a:rPr spc="-50" dirty="0"/>
              <a:t>‹#›</a:t>
            </a:fld>
            <a:endParaRPr spc="-50"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434342"/>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434342"/>
                </a:solidFill>
                <a:latin typeface="Tahoma"/>
                <a:cs typeface="Tahoma"/>
              </a:defRPr>
            </a:lvl1pPr>
          </a:lstStyle>
          <a:p>
            <a:pPr marL="60960">
              <a:lnSpc>
                <a:spcPct val="100000"/>
              </a:lnSpc>
              <a:spcBef>
                <a:spcPts val="80"/>
              </a:spcBef>
            </a:pPr>
            <a:endParaRPr spc="-10" dirty="0"/>
          </a:p>
        </p:txBody>
      </p:sp>
      <p:sp>
        <p:nvSpPr>
          <p:cNvPr id="5" name="Holder 5"/>
          <p:cNvSpPr>
            <a:spLocks noGrp="1"/>
          </p:cNvSpPr>
          <p:nvPr>
            <p:ph type="dt" sz="half" idx="6"/>
          </p:nvPr>
        </p:nvSpPr>
        <p:spPr/>
        <p:txBody>
          <a:bodyPr lIns="0" tIns="0" rIns="0" bIns="0"/>
          <a:lstStyle>
            <a:lvl1pPr>
              <a:defRPr sz="1400" b="0" i="0">
                <a:solidFill>
                  <a:srgbClr val="434342"/>
                </a:solidFill>
                <a:latin typeface="Tahoma"/>
                <a:cs typeface="Tahoma"/>
              </a:defRPr>
            </a:lvl1pPr>
          </a:lstStyle>
          <a:p>
            <a:pPr marL="12700">
              <a:lnSpc>
                <a:spcPct val="100000"/>
              </a:lnSpc>
              <a:spcBef>
                <a:spcPts val="80"/>
              </a:spcBef>
            </a:pPr>
            <a:r>
              <a:rPr spc="95" dirty="0"/>
              <a:t>Department</a:t>
            </a:r>
            <a:r>
              <a:rPr spc="-85" dirty="0"/>
              <a:t> </a:t>
            </a:r>
            <a:r>
              <a:rPr spc="60" dirty="0"/>
              <a:t>of</a:t>
            </a:r>
            <a:r>
              <a:rPr spc="-45" dirty="0"/>
              <a:t> </a:t>
            </a:r>
            <a:r>
              <a:rPr spc="-25" dirty="0"/>
              <a:t>EEE</a:t>
            </a:r>
          </a:p>
        </p:txBody>
      </p:sp>
      <p:sp>
        <p:nvSpPr>
          <p:cNvPr id="6" name="Holder 6"/>
          <p:cNvSpPr>
            <a:spLocks noGrp="1"/>
          </p:cNvSpPr>
          <p:nvPr>
            <p:ph type="sldNum" sz="quarter" idx="7"/>
          </p:nvPr>
        </p:nvSpPr>
        <p:spPr/>
        <p:txBody>
          <a:bodyPr lIns="0" tIns="0" rIns="0" bIns="0"/>
          <a:lstStyle>
            <a:lvl1pPr>
              <a:defRPr sz="1400" b="0" i="0">
                <a:solidFill>
                  <a:srgbClr val="434342"/>
                </a:solidFill>
                <a:latin typeface="Tahoma"/>
                <a:cs typeface="Tahoma"/>
              </a:defRPr>
            </a:lvl1pPr>
          </a:lstStyle>
          <a:p>
            <a:pPr marL="38100">
              <a:lnSpc>
                <a:spcPct val="100000"/>
              </a:lnSpc>
              <a:spcBef>
                <a:spcPts val="80"/>
              </a:spcBef>
            </a:pPr>
            <a:fld id="{81D60167-4931-47E6-BA6A-407CBD079E47}" type="slidenum">
              <a:rPr spc="-50" dirty="0"/>
              <a:t>‹#›</a:t>
            </a:fld>
            <a:endParaRPr spc="-50"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434342"/>
                </a:solidFill>
                <a:latin typeface="Cambria"/>
                <a:cs typeface="Cambria"/>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434342"/>
                </a:solidFill>
                <a:latin typeface="Tahoma"/>
                <a:cs typeface="Tahoma"/>
              </a:defRPr>
            </a:lvl1pPr>
          </a:lstStyle>
          <a:p>
            <a:pPr marL="60960">
              <a:lnSpc>
                <a:spcPct val="100000"/>
              </a:lnSpc>
              <a:spcBef>
                <a:spcPts val="80"/>
              </a:spcBef>
            </a:pPr>
            <a:endParaRPr spc="-10" dirty="0"/>
          </a:p>
        </p:txBody>
      </p:sp>
      <p:sp>
        <p:nvSpPr>
          <p:cNvPr id="6" name="Holder 6"/>
          <p:cNvSpPr>
            <a:spLocks noGrp="1"/>
          </p:cNvSpPr>
          <p:nvPr>
            <p:ph type="dt" sz="half" idx="6"/>
          </p:nvPr>
        </p:nvSpPr>
        <p:spPr/>
        <p:txBody>
          <a:bodyPr lIns="0" tIns="0" rIns="0" bIns="0"/>
          <a:lstStyle>
            <a:lvl1pPr>
              <a:defRPr sz="1400" b="0" i="0">
                <a:solidFill>
                  <a:srgbClr val="434342"/>
                </a:solidFill>
                <a:latin typeface="Tahoma"/>
                <a:cs typeface="Tahoma"/>
              </a:defRPr>
            </a:lvl1pPr>
          </a:lstStyle>
          <a:p>
            <a:pPr marL="12700">
              <a:lnSpc>
                <a:spcPct val="100000"/>
              </a:lnSpc>
              <a:spcBef>
                <a:spcPts val="80"/>
              </a:spcBef>
            </a:pPr>
            <a:r>
              <a:rPr spc="95" dirty="0"/>
              <a:t>Department</a:t>
            </a:r>
            <a:r>
              <a:rPr spc="-85" dirty="0"/>
              <a:t> </a:t>
            </a:r>
            <a:r>
              <a:rPr spc="60" dirty="0"/>
              <a:t>of</a:t>
            </a:r>
            <a:r>
              <a:rPr spc="-45" dirty="0"/>
              <a:t> </a:t>
            </a:r>
            <a:r>
              <a:rPr spc="-25" dirty="0"/>
              <a:t>EEE</a:t>
            </a:r>
          </a:p>
        </p:txBody>
      </p:sp>
      <p:sp>
        <p:nvSpPr>
          <p:cNvPr id="7" name="Holder 7"/>
          <p:cNvSpPr>
            <a:spLocks noGrp="1"/>
          </p:cNvSpPr>
          <p:nvPr>
            <p:ph type="sldNum" sz="quarter" idx="7"/>
          </p:nvPr>
        </p:nvSpPr>
        <p:spPr/>
        <p:txBody>
          <a:bodyPr lIns="0" tIns="0" rIns="0" bIns="0"/>
          <a:lstStyle>
            <a:lvl1pPr>
              <a:defRPr sz="1400" b="0" i="0">
                <a:solidFill>
                  <a:srgbClr val="434342"/>
                </a:solidFill>
                <a:latin typeface="Tahoma"/>
                <a:cs typeface="Tahoma"/>
              </a:defRPr>
            </a:lvl1pPr>
          </a:lstStyle>
          <a:p>
            <a:pPr marL="38100">
              <a:lnSpc>
                <a:spcPct val="100000"/>
              </a:lnSpc>
              <a:spcBef>
                <a:spcPts val="80"/>
              </a:spcBef>
            </a:pPr>
            <a:fld id="{81D60167-4931-47E6-BA6A-407CBD079E47}" type="slidenum">
              <a:rPr spc="-50" dirty="0"/>
              <a:t>‹#›</a:t>
            </a:fld>
            <a:endParaRPr spc="-50"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434342"/>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434342"/>
                </a:solidFill>
                <a:latin typeface="Tahoma"/>
                <a:cs typeface="Tahoma"/>
              </a:defRPr>
            </a:lvl1pPr>
          </a:lstStyle>
          <a:p>
            <a:pPr marL="60960">
              <a:lnSpc>
                <a:spcPct val="100000"/>
              </a:lnSpc>
              <a:spcBef>
                <a:spcPts val="80"/>
              </a:spcBef>
            </a:pPr>
            <a:endParaRPr spc="-10" dirty="0"/>
          </a:p>
        </p:txBody>
      </p:sp>
      <p:sp>
        <p:nvSpPr>
          <p:cNvPr id="4" name="Holder 4"/>
          <p:cNvSpPr>
            <a:spLocks noGrp="1"/>
          </p:cNvSpPr>
          <p:nvPr>
            <p:ph type="dt" sz="half" idx="6"/>
          </p:nvPr>
        </p:nvSpPr>
        <p:spPr/>
        <p:txBody>
          <a:bodyPr lIns="0" tIns="0" rIns="0" bIns="0"/>
          <a:lstStyle>
            <a:lvl1pPr>
              <a:defRPr sz="1400" b="0" i="0">
                <a:solidFill>
                  <a:srgbClr val="434342"/>
                </a:solidFill>
                <a:latin typeface="Tahoma"/>
                <a:cs typeface="Tahoma"/>
              </a:defRPr>
            </a:lvl1pPr>
          </a:lstStyle>
          <a:p>
            <a:pPr marL="12700">
              <a:lnSpc>
                <a:spcPct val="100000"/>
              </a:lnSpc>
              <a:spcBef>
                <a:spcPts val="80"/>
              </a:spcBef>
            </a:pPr>
            <a:r>
              <a:rPr spc="95" dirty="0"/>
              <a:t>Department</a:t>
            </a:r>
            <a:r>
              <a:rPr spc="-85" dirty="0"/>
              <a:t> </a:t>
            </a:r>
            <a:r>
              <a:rPr spc="60" dirty="0"/>
              <a:t>of</a:t>
            </a:r>
            <a:r>
              <a:rPr spc="-45" dirty="0"/>
              <a:t> </a:t>
            </a:r>
            <a:r>
              <a:rPr spc="-25" dirty="0"/>
              <a:t>EEE</a:t>
            </a:r>
          </a:p>
        </p:txBody>
      </p:sp>
      <p:sp>
        <p:nvSpPr>
          <p:cNvPr id="5" name="Holder 5"/>
          <p:cNvSpPr>
            <a:spLocks noGrp="1"/>
          </p:cNvSpPr>
          <p:nvPr>
            <p:ph type="sldNum" sz="quarter" idx="7"/>
          </p:nvPr>
        </p:nvSpPr>
        <p:spPr/>
        <p:txBody>
          <a:bodyPr lIns="0" tIns="0" rIns="0" bIns="0"/>
          <a:lstStyle>
            <a:lvl1pPr>
              <a:defRPr sz="1400" b="0" i="0">
                <a:solidFill>
                  <a:srgbClr val="434342"/>
                </a:solidFill>
                <a:latin typeface="Tahoma"/>
                <a:cs typeface="Tahoma"/>
              </a:defRPr>
            </a:lvl1pPr>
          </a:lstStyle>
          <a:p>
            <a:pPr marL="38100">
              <a:lnSpc>
                <a:spcPct val="100000"/>
              </a:lnSpc>
              <a:spcBef>
                <a:spcPts val="80"/>
              </a:spcBef>
            </a:pPr>
            <a:fld id="{81D60167-4931-47E6-BA6A-407CBD079E47}" type="slidenum">
              <a:rPr spc="-50" dirty="0"/>
              <a:t>‹#›</a:t>
            </a:fld>
            <a:endParaRPr spc="-50"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0" i="0">
                <a:solidFill>
                  <a:srgbClr val="434342"/>
                </a:solidFill>
                <a:latin typeface="Tahoma"/>
                <a:cs typeface="Tahoma"/>
              </a:defRPr>
            </a:lvl1pPr>
          </a:lstStyle>
          <a:p>
            <a:pPr marL="60960">
              <a:lnSpc>
                <a:spcPct val="100000"/>
              </a:lnSpc>
              <a:spcBef>
                <a:spcPts val="80"/>
              </a:spcBef>
            </a:pPr>
            <a:endParaRPr spc="-10" dirty="0"/>
          </a:p>
        </p:txBody>
      </p:sp>
      <p:sp>
        <p:nvSpPr>
          <p:cNvPr id="3" name="Holder 3"/>
          <p:cNvSpPr>
            <a:spLocks noGrp="1"/>
          </p:cNvSpPr>
          <p:nvPr>
            <p:ph type="dt" sz="half" idx="6"/>
          </p:nvPr>
        </p:nvSpPr>
        <p:spPr/>
        <p:txBody>
          <a:bodyPr lIns="0" tIns="0" rIns="0" bIns="0"/>
          <a:lstStyle>
            <a:lvl1pPr>
              <a:defRPr sz="1400" b="0" i="0">
                <a:solidFill>
                  <a:srgbClr val="434342"/>
                </a:solidFill>
                <a:latin typeface="Tahoma"/>
                <a:cs typeface="Tahoma"/>
              </a:defRPr>
            </a:lvl1pPr>
          </a:lstStyle>
          <a:p>
            <a:pPr marL="12700">
              <a:lnSpc>
                <a:spcPct val="100000"/>
              </a:lnSpc>
              <a:spcBef>
                <a:spcPts val="80"/>
              </a:spcBef>
            </a:pPr>
            <a:r>
              <a:rPr spc="95" dirty="0"/>
              <a:t>Department</a:t>
            </a:r>
            <a:r>
              <a:rPr spc="-85" dirty="0"/>
              <a:t> </a:t>
            </a:r>
            <a:r>
              <a:rPr spc="60" dirty="0"/>
              <a:t>of</a:t>
            </a:r>
            <a:r>
              <a:rPr spc="-45" dirty="0"/>
              <a:t> </a:t>
            </a:r>
            <a:r>
              <a:rPr spc="-25" dirty="0"/>
              <a:t>EEE</a:t>
            </a:r>
          </a:p>
        </p:txBody>
      </p:sp>
      <p:sp>
        <p:nvSpPr>
          <p:cNvPr id="4" name="Holder 4"/>
          <p:cNvSpPr>
            <a:spLocks noGrp="1"/>
          </p:cNvSpPr>
          <p:nvPr>
            <p:ph type="sldNum" sz="quarter" idx="7"/>
          </p:nvPr>
        </p:nvSpPr>
        <p:spPr/>
        <p:txBody>
          <a:bodyPr lIns="0" tIns="0" rIns="0" bIns="0"/>
          <a:lstStyle>
            <a:lvl1pPr>
              <a:defRPr sz="1400" b="0" i="0">
                <a:solidFill>
                  <a:srgbClr val="434342"/>
                </a:solidFill>
                <a:latin typeface="Tahoma"/>
                <a:cs typeface="Tahoma"/>
              </a:defRPr>
            </a:lvl1pPr>
          </a:lstStyle>
          <a:p>
            <a:pPr marL="38100">
              <a:lnSpc>
                <a:spcPct val="100000"/>
              </a:lnSpc>
              <a:spcBef>
                <a:spcPts val="80"/>
              </a:spcBef>
            </a:pPr>
            <a:fld id="{81D60167-4931-47E6-BA6A-407CBD079E47}" type="slidenum">
              <a:rPr spc="-50" dirty="0"/>
              <a:t>‹#›</a:t>
            </a:fld>
            <a:endParaRPr spc="-50"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1962" y="6357937"/>
            <a:ext cx="8230234" cy="0"/>
          </a:xfrm>
          <a:custGeom>
            <a:avLst/>
            <a:gdLst/>
            <a:ahLst/>
            <a:cxnLst/>
            <a:rect l="l" t="t" r="r" b="b"/>
            <a:pathLst>
              <a:path w="8230234">
                <a:moveTo>
                  <a:pt x="0" y="0"/>
                </a:moveTo>
                <a:lnTo>
                  <a:pt x="8229663" y="0"/>
                </a:lnTo>
              </a:path>
            </a:pathLst>
          </a:custGeom>
          <a:ln w="9525">
            <a:solidFill>
              <a:srgbClr val="F86A1B"/>
            </a:solidFill>
            <a:prstDash val="sysDash"/>
          </a:ln>
        </p:spPr>
        <p:txBody>
          <a:bodyPr wrap="square" lIns="0" tIns="0" rIns="0" bIns="0" rtlCol="0"/>
          <a:lstStyle/>
          <a:p>
            <a:endParaRPr dirty="0"/>
          </a:p>
        </p:txBody>
      </p:sp>
      <p:sp>
        <p:nvSpPr>
          <p:cNvPr id="17" name="bg object 17"/>
          <p:cNvSpPr/>
          <p:nvPr/>
        </p:nvSpPr>
        <p:spPr>
          <a:xfrm>
            <a:off x="461962" y="1147825"/>
            <a:ext cx="8230234" cy="0"/>
          </a:xfrm>
          <a:custGeom>
            <a:avLst/>
            <a:gdLst/>
            <a:ahLst/>
            <a:cxnLst/>
            <a:rect l="l" t="t" r="r" b="b"/>
            <a:pathLst>
              <a:path w="8230234">
                <a:moveTo>
                  <a:pt x="0" y="0"/>
                </a:moveTo>
                <a:lnTo>
                  <a:pt x="8229663" y="0"/>
                </a:lnTo>
              </a:path>
            </a:pathLst>
          </a:custGeom>
          <a:ln w="9525">
            <a:solidFill>
              <a:srgbClr val="F86A1B"/>
            </a:solidFill>
            <a:prstDash val="sysDash"/>
          </a:ln>
        </p:spPr>
        <p:txBody>
          <a:bodyPr wrap="square" lIns="0" tIns="0" rIns="0" bIns="0" rtlCol="0"/>
          <a:lstStyle/>
          <a:p>
            <a:endParaRPr dirty="0"/>
          </a:p>
        </p:txBody>
      </p:sp>
      <p:sp>
        <p:nvSpPr>
          <p:cNvPr id="18" name="bg object 18"/>
          <p:cNvSpPr/>
          <p:nvPr/>
        </p:nvSpPr>
        <p:spPr>
          <a:xfrm>
            <a:off x="457200" y="6429375"/>
            <a:ext cx="114300" cy="190500"/>
          </a:xfrm>
          <a:custGeom>
            <a:avLst/>
            <a:gdLst/>
            <a:ahLst/>
            <a:cxnLst/>
            <a:rect l="l" t="t" r="r" b="b"/>
            <a:pathLst>
              <a:path w="114300" h="190500">
                <a:moveTo>
                  <a:pt x="0" y="0"/>
                </a:moveTo>
                <a:lnTo>
                  <a:pt x="0" y="190500"/>
                </a:lnTo>
                <a:lnTo>
                  <a:pt x="114300" y="95250"/>
                </a:lnTo>
                <a:lnTo>
                  <a:pt x="0" y="0"/>
                </a:lnTo>
                <a:close/>
              </a:path>
            </a:pathLst>
          </a:custGeom>
          <a:solidFill>
            <a:srgbClr val="F86A1B"/>
          </a:solidFill>
        </p:spPr>
        <p:txBody>
          <a:bodyPr wrap="square" lIns="0" tIns="0" rIns="0" bIns="0" rtlCol="0"/>
          <a:lstStyle/>
          <a:p>
            <a:endParaRPr dirty="0"/>
          </a:p>
        </p:txBody>
      </p:sp>
      <p:sp>
        <p:nvSpPr>
          <p:cNvPr id="2" name="Holder 2"/>
          <p:cNvSpPr>
            <a:spLocks noGrp="1"/>
          </p:cNvSpPr>
          <p:nvPr>
            <p:ph type="title"/>
          </p:nvPr>
        </p:nvSpPr>
        <p:spPr>
          <a:xfrm>
            <a:off x="536575" y="568960"/>
            <a:ext cx="4244340" cy="518159"/>
          </a:xfrm>
          <a:prstGeom prst="rect">
            <a:avLst/>
          </a:prstGeom>
        </p:spPr>
        <p:txBody>
          <a:bodyPr wrap="square" lIns="0" tIns="0" rIns="0" bIns="0">
            <a:spAutoFit/>
          </a:bodyPr>
          <a:lstStyle>
            <a:lvl1pPr>
              <a:defRPr sz="3200" b="0" i="0">
                <a:solidFill>
                  <a:srgbClr val="434342"/>
                </a:solidFill>
                <a:latin typeface="Cambria"/>
                <a:cs typeface="Cambria"/>
              </a:defRPr>
            </a:lvl1pPr>
          </a:lstStyle>
          <a:p>
            <a:endParaRPr/>
          </a:p>
        </p:txBody>
      </p:sp>
      <p:sp>
        <p:nvSpPr>
          <p:cNvPr id="3" name="Holder 3"/>
          <p:cNvSpPr>
            <a:spLocks noGrp="1"/>
          </p:cNvSpPr>
          <p:nvPr>
            <p:ph type="body" idx="1"/>
          </p:nvPr>
        </p:nvSpPr>
        <p:spPr>
          <a:xfrm>
            <a:off x="295414" y="1409446"/>
            <a:ext cx="8585835" cy="342646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7571740" y="6394266"/>
            <a:ext cx="917321" cy="241300"/>
          </a:xfrm>
          <a:prstGeom prst="rect">
            <a:avLst/>
          </a:prstGeom>
        </p:spPr>
        <p:txBody>
          <a:bodyPr wrap="square" lIns="0" tIns="0" rIns="0" bIns="0">
            <a:spAutoFit/>
          </a:bodyPr>
          <a:lstStyle>
            <a:lvl1pPr>
              <a:defRPr sz="1400" b="0" i="0">
                <a:solidFill>
                  <a:srgbClr val="434342"/>
                </a:solidFill>
                <a:latin typeface="Tahoma"/>
                <a:cs typeface="Tahoma"/>
              </a:defRPr>
            </a:lvl1pPr>
          </a:lstStyle>
          <a:p>
            <a:pPr marL="60960">
              <a:lnSpc>
                <a:spcPct val="100000"/>
              </a:lnSpc>
              <a:spcBef>
                <a:spcPts val="80"/>
              </a:spcBef>
            </a:pPr>
            <a:endParaRPr spc="-10" dirty="0"/>
          </a:p>
        </p:txBody>
      </p:sp>
      <p:sp>
        <p:nvSpPr>
          <p:cNvPr id="5" name="Holder 5"/>
          <p:cNvSpPr>
            <a:spLocks noGrp="1"/>
          </p:cNvSpPr>
          <p:nvPr>
            <p:ph type="dt" sz="half" idx="6"/>
          </p:nvPr>
        </p:nvSpPr>
        <p:spPr>
          <a:xfrm>
            <a:off x="3415665" y="6394266"/>
            <a:ext cx="2055240" cy="304809"/>
          </a:xfrm>
          <a:prstGeom prst="rect">
            <a:avLst/>
          </a:prstGeom>
        </p:spPr>
        <p:txBody>
          <a:bodyPr wrap="square" lIns="0" tIns="0" rIns="0" bIns="0">
            <a:spAutoFit/>
          </a:bodyPr>
          <a:lstStyle>
            <a:lvl1pPr>
              <a:defRPr sz="1400" b="0" i="0">
                <a:solidFill>
                  <a:srgbClr val="434342"/>
                </a:solidFill>
                <a:latin typeface="Tahoma"/>
                <a:cs typeface="Tahoma"/>
              </a:defRPr>
            </a:lvl1pPr>
          </a:lstStyle>
          <a:p>
            <a:pPr marL="12700">
              <a:lnSpc>
                <a:spcPct val="100000"/>
              </a:lnSpc>
              <a:spcBef>
                <a:spcPts val="80"/>
              </a:spcBef>
            </a:pPr>
            <a:r>
              <a:rPr spc="95" dirty="0"/>
              <a:t>Department</a:t>
            </a:r>
            <a:r>
              <a:rPr spc="-85" dirty="0"/>
              <a:t> </a:t>
            </a:r>
            <a:r>
              <a:rPr spc="60" dirty="0"/>
              <a:t>of</a:t>
            </a:r>
            <a:r>
              <a:rPr spc="-45" dirty="0"/>
              <a:t> </a:t>
            </a:r>
            <a:r>
              <a:rPr spc="-25" dirty="0"/>
              <a:t>EEE</a:t>
            </a:r>
          </a:p>
        </p:txBody>
      </p:sp>
      <p:sp>
        <p:nvSpPr>
          <p:cNvPr id="6" name="Holder 6"/>
          <p:cNvSpPr>
            <a:spLocks noGrp="1"/>
          </p:cNvSpPr>
          <p:nvPr>
            <p:ph type="sldNum" sz="quarter" idx="7"/>
          </p:nvPr>
        </p:nvSpPr>
        <p:spPr>
          <a:xfrm>
            <a:off x="666750" y="6394266"/>
            <a:ext cx="241934" cy="241300"/>
          </a:xfrm>
          <a:prstGeom prst="rect">
            <a:avLst/>
          </a:prstGeom>
        </p:spPr>
        <p:txBody>
          <a:bodyPr wrap="square" lIns="0" tIns="0" rIns="0" bIns="0">
            <a:spAutoFit/>
          </a:bodyPr>
          <a:lstStyle>
            <a:lvl1pPr>
              <a:defRPr sz="1400" b="0" i="0">
                <a:solidFill>
                  <a:srgbClr val="434342"/>
                </a:solidFill>
                <a:latin typeface="Tahoma"/>
                <a:cs typeface="Tahoma"/>
              </a:defRPr>
            </a:lvl1pPr>
          </a:lstStyle>
          <a:p>
            <a:pPr marL="38100">
              <a:lnSpc>
                <a:spcPct val="100000"/>
              </a:lnSpc>
              <a:spcBef>
                <a:spcPts val="8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6.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eg"/></Relationships>
</file>

<file path=ppt/slides/_rels/slide16.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5.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 Id="rId3" Type="http://schemas.openxmlformats.org/officeDocument/2006/relationships/image" Target="../media/image9.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 Id="rId3" Type="http://schemas.openxmlformats.org/officeDocument/2006/relationships/image" Target="../media/image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 Id="rId3" Type="http://schemas.openxmlformats.org/officeDocument/2006/relationships/image" Target="../media/image12.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61962" y="6357937"/>
            <a:ext cx="8230234" cy="0"/>
          </a:xfrm>
          <a:custGeom>
            <a:avLst/>
            <a:gdLst/>
            <a:ahLst/>
            <a:cxnLst/>
            <a:rect l="l" t="t" r="r" b="b"/>
            <a:pathLst>
              <a:path w="8230234">
                <a:moveTo>
                  <a:pt x="0" y="0"/>
                </a:moveTo>
                <a:lnTo>
                  <a:pt x="8229663" y="0"/>
                </a:lnTo>
              </a:path>
            </a:pathLst>
          </a:custGeom>
          <a:ln w="9525">
            <a:solidFill>
              <a:srgbClr val="F86A1B"/>
            </a:solidFill>
            <a:prstDash val="sysDash"/>
          </a:ln>
        </p:spPr>
        <p:txBody>
          <a:bodyPr wrap="square" lIns="0" tIns="0" rIns="0" bIns="0" rtlCol="0"/>
          <a:lstStyle/>
          <a:p>
            <a:endParaRPr dirty="0"/>
          </a:p>
        </p:txBody>
      </p:sp>
      <p:sp>
        <p:nvSpPr>
          <p:cNvPr id="3" name="object 3"/>
          <p:cNvSpPr/>
          <p:nvPr/>
        </p:nvSpPr>
        <p:spPr>
          <a:xfrm>
            <a:off x="457200" y="6429375"/>
            <a:ext cx="114300" cy="190500"/>
          </a:xfrm>
          <a:custGeom>
            <a:avLst/>
            <a:gdLst/>
            <a:ahLst/>
            <a:cxnLst/>
            <a:rect l="l" t="t" r="r" b="b"/>
            <a:pathLst>
              <a:path w="114300" h="190500">
                <a:moveTo>
                  <a:pt x="0" y="0"/>
                </a:moveTo>
                <a:lnTo>
                  <a:pt x="0" y="190500"/>
                </a:lnTo>
                <a:lnTo>
                  <a:pt x="114300" y="95250"/>
                </a:lnTo>
                <a:lnTo>
                  <a:pt x="0" y="0"/>
                </a:lnTo>
                <a:close/>
              </a:path>
            </a:pathLst>
          </a:custGeom>
          <a:solidFill>
            <a:srgbClr val="F86A1B"/>
          </a:solidFill>
        </p:spPr>
        <p:txBody>
          <a:bodyPr wrap="square" lIns="0" tIns="0" rIns="0" bIns="0" rtlCol="0"/>
          <a:lstStyle/>
          <a:p>
            <a:endParaRPr dirty="0"/>
          </a:p>
        </p:txBody>
      </p:sp>
      <p:sp>
        <p:nvSpPr>
          <p:cNvPr id="4" name="object 4"/>
          <p:cNvSpPr txBox="1"/>
          <p:nvPr/>
        </p:nvSpPr>
        <p:spPr>
          <a:xfrm>
            <a:off x="763021" y="2777843"/>
            <a:ext cx="3652497" cy="2718693"/>
          </a:xfrm>
          <a:prstGeom prst="rect">
            <a:avLst/>
          </a:prstGeom>
        </p:spPr>
        <p:txBody>
          <a:bodyPr vert="horz" wrap="square" lIns="0" tIns="15240" rIns="0" bIns="0" rtlCol="0" anchor="t">
            <a:spAutoFit/>
          </a:bodyPr>
          <a:lstStyle/>
          <a:p>
            <a:pPr marL="12700" marR="5080" indent="203200" algn="l">
              <a:lnSpc>
                <a:spcPct val="150000"/>
              </a:lnSpc>
              <a:spcBef>
                <a:spcPts val="120"/>
              </a:spcBef>
              <a:tabLst>
                <a:tab pos="1499870" algn="l"/>
                <a:tab pos="1858645" algn="l"/>
              </a:tabLst>
            </a:pPr>
            <a:r>
              <a:rPr sz="2000" b="1" dirty="0">
                <a:latin typeface="Palatino Linotype"/>
                <a:cs typeface="Palatino Linotype"/>
              </a:rPr>
              <a:t>Project</a:t>
            </a:r>
            <a:r>
              <a:rPr sz="2000" b="1" spc="-55" dirty="0">
                <a:latin typeface="Palatino Linotype"/>
                <a:cs typeface="Palatino Linotype"/>
              </a:rPr>
              <a:t> </a:t>
            </a:r>
            <a:r>
              <a:rPr sz="2000" b="1" spc="-10" dirty="0">
                <a:latin typeface="Palatino Linotype"/>
                <a:cs typeface="Palatino Linotype"/>
              </a:rPr>
              <a:t>group</a:t>
            </a:r>
            <a:r>
              <a:rPr lang="en-IN" sz="2000" b="1" spc="-10" dirty="0">
                <a:latin typeface="Palatino Linotype"/>
                <a:cs typeface="Palatino Linotype"/>
              </a:rPr>
              <a:t> </a:t>
            </a:r>
            <a:endParaRPr lang="en-US" sz="2000" b="1" spc="-10">
              <a:latin typeface="Times New Roman"/>
              <a:cs typeface="Times New Roman"/>
            </a:endParaRPr>
          </a:p>
          <a:p>
            <a:pPr marL="12700" marR="5080" indent="203200" algn="l">
              <a:lnSpc>
                <a:spcPct val="150000"/>
              </a:lnSpc>
              <a:spcBef>
                <a:spcPts val="120"/>
              </a:spcBef>
              <a:tabLst>
                <a:tab pos="1499870" algn="l"/>
                <a:tab pos="1858645" algn="l"/>
              </a:tabLst>
            </a:pPr>
            <a:r>
              <a:rPr lang="en-US" sz="1400" b="1" spc="-10">
                <a:latin typeface="Times New Roman"/>
                <a:cs typeface="Times New Roman"/>
              </a:rPr>
              <a:t>DEEPTI</a:t>
            </a:r>
            <a:r>
              <a:rPr lang="en-US" sz="1400" spc="-10">
                <a:latin typeface="Times New Roman"/>
                <a:cs typeface="Times New Roman"/>
              </a:rPr>
              <a:t>: (1NT22EE024)</a:t>
            </a:r>
            <a:endParaRPr lang="en-US" sz="2000" b="1" spc="-10">
              <a:latin typeface="Times New Roman"/>
              <a:cs typeface="Times New Roman"/>
            </a:endParaRPr>
          </a:p>
          <a:p>
            <a:pPr algn="l" rtl="0">
              <a:lnSpc>
                <a:spcPct val="150000"/>
              </a:lnSpc>
            </a:pPr>
            <a:r>
              <a:rPr lang="en-IN" sz="1400" b="1" noProof="1">
                <a:latin typeface="Times New Roman"/>
                <a:cs typeface="Times New Roman"/>
                <a:sym typeface="Book Antiqua"/>
              </a:rPr>
              <a:t>     HARSHITHA D R :</a:t>
            </a:r>
            <a:r>
              <a:rPr lang="en-IN" sz="1400" noProof="1">
                <a:latin typeface="Times New Roman"/>
                <a:cs typeface="Times New Roman"/>
                <a:sym typeface="Book Antiqua"/>
              </a:rPr>
              <a:t>(1NT22EE034)</a:t>
            </a:r>
            <a:endParaRPr lang="en-US" sz="1400" spc="-10">
              <a:latin typeface="Times New Roman"/>
              <a:cs typeface="Times New Roman"/>
            </a:endParaRPr>
          </a:p>
          <a:p>
            <a:pPr algn="l" rtl="0">
              <a:lnSpc>
                <a:spcPct val="150000"/>
              </a:lnSpc>
            </a:pPr>
            <a:r>
              <a:rPr lang="en-IN" sz="1400" b="1" noProof="1">
                <a:latin typeface="Times New Roman"/>
                <a:cs typeface="Times New Roman"/>
                <a:sym typeface="Book Antiqua"/>
              </a:rPr>
              <a:t>     MEGHANA B S: </a:t>
            </a:r>
            <a:r>
              <a:rPr lang="en-IN" sz="1400" noProof="1">
                <a:latin typeface="Times New Roman"/>
                <a:cs typeface="Times New Roman"/>
                <a:sym typeface="Book Antiqua"/>
              </a:rPr>
              <a:t>(1NT22EE053)</a:t>
            </a:r>
          </a:p>
          <a:p>
            <a:pPr algn="l" rtl="0">
              <a:lnSpc>
                <a:spcPct val="150000"/>
              </a:lnSpc>
            </a:pPr>
            <a:r>
              <a:rPr lang="en-IN" sz="1400" b="1" noProof="1">
                <a:latin typeface="Times New Roman"/>
                <a:cs typeface="Times New Roman"/>
                <a:sym typeface="Book Antiqua"/>
              </a:rPr>
              <a:t>     MONIKA REDDY: </a:t>
            </a:r>
            <a:r>
              <a:rPr lang="en-IN" sz="1400" noProof="1">
                <a:latin typeface="Times New Roman"/>
                <a:cs typeface="Times New Roman"/>
                <a:sym typeface="Book Antiqua"/>
              </a:rPr>
              <a:t>(1NT22EE057)</a:t>
            </a:r>
          </a:p>
          <a:p>
            <a:pPr algn="l" rtl="0">
              <a:lnSpc>
                <a:spcPct val="150000"/>
              </a:lnSpc>
            </a:pPr>
            <a:r>
              <a:rPr lang="en-IN" sz="1400" b="1" noProof="1">
                <a:latin typeface="Times New Roman"/>
                <a:cs typeface="Times New Roman"/>
                <a:sym typeface="Book Antiqua"/>
              </a:rPr>
              <a:t>     SRIVIDYA: </a:t>
            </a:r>
            <a:r>
              <a:rPr lang="en-IN" sz="1400" noProof="1">
                <a:latin typeface="Times New Roman"/>
                <a:cs typeface="Times New Roman"/>
                <a:sym typeface="Book Antiqua"/>
              </a:rPr>
              <a:t>(1NT22EE060</a:t>
            </a:r>
            <a:r>
              <a:rPr lang="en-IN" sz="1400" noProof="1">
                <a:latin typeface="Aparajita"/>
                <a:cs typeface="Aparajita"/>
                <a:sym typeface="Book Antiqua"/>
              </a:rPr>
              <a:t>)</a:t>
            </a:r>
          </a:p>
          <a:p>
            <a:pPr marL="0" marR="0" lvl="0" indent="0" algn="l" rtl="0">
              <a:lnSpc>
                <a:spcPct val="150000"/>
              </a:lnSpc>
              <a:spcBef>
                <a:spcPts val="0"/>
              </a:spcBef>
              <a:spcAft>
                <a:spcPts val="0"/>
              </a:spcAft>
              <a:buNone/>
            </a:pPr>
            <a:endParaRPr lang="en-IN" sz="1400" noProof="1"/>
          </a:p>
          <a:p>
            <a:pPr marL="12700" marR="5080" indent="203200">
              <a:lnSpc>
                <a:spcPct val="100200"/>
              </a:lnSpc>
              <a:spcBef>
                <a:spcPts val="120"/>
              </a:spcBef>
              <a:tabLst>
                <a:tab pos="1499870" algn="l"/>
                <a:tab pos="1858645" algn="l"/>
              </a:tabLst>
            </a:pPr>
            <a:endParaRPr sz="1800" dirty="0">
              <a:latin typeface="Cambria"/>
              <a:cs typeface="Cambria"/>
            </a:endParaRPr>
          </a:p>
        </p:txBody>
      </p:sp>
      <p:sp>
        <p:nvSpPr>
          <p:cNvPr id="8" name="object 8"/>
          <p:cNvSpPr txBox="1"/>
          <p:nvPr/>
        </p:nvSpPr>
        <p:spPr>
          <a:xfrm>
            <a:off x="6228670" y="2774378"/>
            <a:ext cx="2297430" cy="970779"/>
          </a:xfrm>
          <a:prstGeom prst="rect">
            <a:avLst/>
          </a:prstGeom>
        </p:spPr>
        <p:txBody>
          <a:bodyPr vert="horz" wrap="square" lIns="0" tIns="16510" rIns="0" bIns="0" rtlCol="0">
            <a:spAutoFit/>
          </a:bodyPr>
          <a:lstStyle/>
          <a:p>
            <a:pPr marL="1270" algn="ctr">
              <a:lnSpc>
                <a:spcPct val="100000"/>
              </a:lnSpc>
              <a:spcBef>
                <a:spcPts val="130"/>
              </a:spcBef>
            </a:pPr>
            <a:r>
              <a:rPr sz="2000" b="1" spc="-10" dirty="0">
                <a:latin typeface="Palatino Linotype"/>
                <a:cs typeface="Palatino Linotype"/>
              </a:rPr>
              <a:t>Guide</a:t>
            </a:r>
            <a:endParaRPr sz="2000" dirty="0">
              <a:latin typeface="Palatino Linotype"/>
              <a:cs typeface="Palatino Linotype"/>
            </a:endParaRPr>
          </a:p>
          <a:p>
            <a:pPr marL="0" marR="0" lvl="0" indent="0" algn="ctr" rtl="0">
              <a:spcBef>
                <a:spcPts val="0"/>
              </a:spcBef>
              <a:spcAft>
                <a:spcPts val="0"/>
              </a:spcAft>
              <a:buNone/>
            </a:pPr>
            <a:r>
              <a:rPr lang="en-IN" sz="1400" b="1" noProof="1">
                <a:latin typeface="Times New Roman" panose="02020603050405020304" pitchFamily="18" charset="0"/>
                <a:cs typeface="Times New Roman" panose="02020603050405020304" pitchFamily="18" charset="0"/>
                <a:sym typeface="Book Antiqua"/>
              </a:rPr>
              <a:t>DR.RAJARAJAN</a:t>
            </a:r>
          </a:p>
          <a:p>
            <a:pPr marL="0" marR="0" lvl="0" indent="0" algn="ctr" rtl="0">
              <a:spcBef>
                <a:spcPts val="0"/>
              </a:spcBef>
              <a:spcAft>
                <a:spcPts val="0"/>
              </a:spcAft>
              <a:buNone/>
            </a:pPr>
            <a:r>
              <a:rPr lang="en-IN" sz="1400" b="1" noProof="1">
                <a:latin typeface="Times New Roman" panose="02020603050405020304" pitchFamily="18" charset="0"/>
                <a:cs typeface="Times New Roman" panose="02020603050405020304" pitchFamily="18" charset="0"/>
                <a:sym typeface="Book Antiqua"/>
              </a:rPr>
              <a:t>ASSISTANT PROFESSOR</a:t>
            </a:r>
          </a:p>
          <a:p>
            <a:pPr marL="0" marR="0" lvl="0" indent="0" algn="ctr" rtl="0">
              <a:spcBef>
                <a:spcPts val="0"/>
              </a:spcBef>
              <a:spcAft>
                <a:spcPts val="0"/>
              </a:spcAft>
              <a:buNone/>
            </a:pPr>
            <a:r>
              <a:rPr lang="en-IN" sz="1400" b="1" noProof="1">
                <a:latin typeface="Times New Roman" panose="02020603050405020304" pitchFamily="18" charset="0"/>
                <a:cs typeface="Times New Roman" panose="02020603050405020304" pitchFamily="18" charset="0"/>
                <a:sym typeface="Book Antiqua"/>
              </a:rPr>
              <a:t>Dept. of EEE,NMIT</a:t>
            </a:r>
          </a:p>
        </p:txBody>
      </p:sp>
      <p:pic>
        <p:nvPicPr>
          <p:cNvPr id="9" name="object 9"/>
          <p:cNvPicPr/>
          <p:nvPr/>
        </p:nvPicPr>
        <p:blipFill>
          <a:blip r:embed="rId2" cstate="print"/>
          <a:stretch>
            <a:fillRect/>
          </a:stretch>
        </p:blipFill>
        <p:spPr>
          <a:xfrm>
            <a:off x="2895600" y="5024437"/>
            <a:ext cx="3848100" cy="1333500"/>
          </a:xfrm>
          <a:prstGeom prst="rect">
            <a:avLst/>
          </a:prstGeom>
        </p:spPr>
      </p:pic>
      <p:sp>
        <p:nvSpPr>
          <p:cNvPr id="11" name="object 11"/>
          <p:cNvSpPr txBox="1"/>
          <p:nvPr/>
        </p:nvSpPr>
        <p:spPr>
          <a:xfrm>
            <a:off x="795655" y="6386195"/>
            <a:ext cx="3894454" cy="254557"/>
          </a:xfrm>
          <a:prstGeom prst="rect">
            <a:avLst/>
          </a:prstGeom>
        </p:spPr>
        <p:txBody>
          <a:bodyPr vert="horz" wrap="square" lIns="0" tIns="15875" rIns="0" bIns="0" rtlCol="0">
            <a:spAutoFit/>
          </a:bodyPr>
          <a:lstStyle/>
          <a:p>
            <a:pPr marL="12700">
              <a:lnSpc>
                <a:spcPct val="100000"/>
              </a:lnSpc>
              <a:spcBef>
                <a:spcPts val="125"/>
              </a:spcBef>
            </a:pPr>
            <a:r>
              <a:rPr sz="1550" b="1" dirty="0">
                <a:solidFill>
                  <a:srgbClr val="434342"/>
                </a:solidFill>
                <a:latin typeface="Palatino Linotype"/>
                <a:cs typeface="Palatino Linotype"/>
              </a:rPr>
              <a:t>Major</a:t>
            </a:r>
            <a:r>
              <a:rPr sz="1550" b="1" spc="170" dirty="0">
                <a:solidFill>
                  <a:srgbClr val="434342"/>
                </a:solidFill>
                <a:latin typeface="Palatino Linotype"/>
                <a:cs typeface="Palatino Linotype"/>
              </a:rPr>
              <a:t> </a:t>
            </a:r>
            <a:r>
              <a:rPr sz="1550" b="1" dirty="0">
                <a:solidFill>
                  <a:srgbClr val="434342"/>
                </a:solidFill>
                <a:latin typeface="Palatino Linotype"/>
                <a:cs typeface="Palatino Linotype"/>
              </a:rPr>
              <a:t>Project</a:t>
            </a:r>
            <a:r>
              <a:rPr sz="1550" b="1" spc="195" dirty="0">
                <a:solidFill>
                  <a:srgbClr val="434342"/>
                </a:solidFill>
                <a:latin typeface="Palatino Linotype"/>
                <a:cs typeface="Palatino Linotype"/>
              </a:rPr>
              <a:t> </a:t>
            </a:r>
            <a:r>
              <a:rPr sz="1550" b="1" dirty="0">
                <a:solidFill>
                  <a:srgbClr val="434342"/>
                </a:solidFill>
                <a:latin typeface="Palatino Linotype"/>
                <a:cs typeface="Palatino Linotype"/>
              </a:rPr>
              <a:t>Phase-I</a:t>
            </a:r>
            <a:r>
              <a:rPr lang="en-US" sz="1550" b="1" dirty="0">
                <a:solidFill>
                  <a:srgbClr val="434342"/>
                </a:solidFill>
                <a:latin typeface="Palatino Linotype"/>
                <a:cs typeface="Palatino Linotype"/>
              </a:rPr>
              <a:t>I</a:t>
            </a:r>
            <a:r>
              <a:rPr sz="1550" b="1" spc="170" dirty="0">
                <a:solidFill>
                  <a:srgbClr val="434342"/>
                </a:solidFill>
                <a:latin typeface="Palatino Linotype"/>
                <a:cs typeface="Palatino Linotype"/>
              </a:rPr>
              <a:t> </a:t>
            </a:r>
            <a:r>
              <a:rPr sz="1550" b="1" dirty="0">
                <a:solidFill>
                  <a:srgbClr val="434342"/>
                </a:solidFill>
                <a:latin typeface="Palatino Linotype"/>
                <a:cs typeface="Palatino Linotype"/>
              </a:rPr>
              <a:t>(22EEP</a:t>
            </a:r>
            <a:r>
              <a:rPr lang="en-US" sz="1550" b="1" dirty="0">
                <a:solidFill>
                  <a:srgbClr val="434342"/>
                </a:solidFill>
                <a:latin typeface="Palatino Linotype"/>
                <a:cs typeface="Palatino Linotype"/>
              </a:rPr>
              <a:t>81</a:t>
            </a:r>
            <a:r>
              <a:rPr sz="1550" b="1" dirty="0">
                <a:solidFill>
                  <a:srgbClr val="434342"/>
                </a:solidFill>
                <a:latin typeface="Palatino Linotype"/>
                <a:cs typeface="Palatino Linotype"/>
              </a:rPr>
              <a:t>)</a:t>
            </a:r>
            <a:endParaRPr sz="1550" dirty="0">
              <a:latin typeface="Palatino Linotype"/>
              <a:cs typeface="Palatino Linotype"/>
            </a:endParaRPr>
          </a:p>
        </p:txBody>
      </p:sp>
      <p:pic>
        <p:nvPicPr>
          <p:cNvPr id="12" name="object 12"/>
          <p:cNvPicPr/>
          <p:nvPr/>
        </p:nvPicPr>
        <p:blipFill>
          <a:blip r:embed="rId3" cstate="print"/>
          <a:stretch>
            <a:fillRect/>
          </a:stretch>
        </p:blipFill>
        <p:spPr>
          <a:xfrm>
            <a:off x="1066800" y="247650"/>
            <a:ext cx="7239000" cy="695325"/>
          </a:xfrm>
          <a:prstGeom prst="rect">
            <a:avLst/>
          </a:prstGeom>
        </p:spPr>
      </p:pic>
      <p:sp>
        <p:nvSpPr>
          <p:cNvPr id="13" name="object 13"/>
          <p:cNvSpPr txBox="1">
            <a:spLocks noGrp="1"/>
          </p:cNvSpPr>
          <p:nvPr>
            <p:ph type="title"/>
          </p:nvPr>
        </p:nvSpPr>
        <p:spPr>
          <a:xfrm>
            <a:off x="701040" y="969581"/>
            <a:ext cx="7692390" cy="391795"/>
          </a:xfrm>
          <a:prstGeom prst="rect">
            <a:avLst/>
          </a:prstGeom>
        </p:spPr>
        <p:txBody>
          <a:bodyPr vert="horz" wrap="square" lIns="0" tIns="12700" rIns="0" bIns="0" rtlCol="0">
            <a:spAutoFit/>
          </a:bodyPr>
          <a:lstStyle/>
          <a:p>
            <a:pPr marL="12700">
              <a:lnSpc>
                <a:spcPct val="100000"/>
              </a:lnSpc>
              <a:spcBef>
                <a:spcPts val="100"/>
              </a:spcBef>
            </a:pPr>
            <a:r>
              <a:rPr sz="2400" spc="-60" dirty="0">
                <a:solidFill>
                  <a:srgbClr val="000000"/>
                </a:solidFill>
                <a:latin typeface="Verdana"/>
                <a:cs typeface="Verdana"/>
              </a:rPr>
              <a:t>Department</a:t>
            </a:r>
            <a:r>
              <a:rPr sz="2400" spc="-150" dirty="0">
                <a:solidFill>
                  <a:srgbClr val="000000"/>
                </a:solidFill>
                <a:latin typeface="Verdana"/>
                <a:cs typeface="Verdana"/>
              </a:rPr>
              <a:t> </a:t>
            </a:r>
            <a:r>
              <a:rPr sz="2400" dirty="0">
                <a:solidFill>
                  <a:srgbClr val="000000"/>
                </a:solidFill>
                <a:latin typeface="Verdana"/>
                <a:cs typeface="Verdana"/>
              </a:rPr>
              <a:t>of</a:t>
            </a:r>
            <a:r>
              <a:rPr sz="2400" spc="-165" dirty="0">
                <a:solidFill>
                  <a:srgbClr val="000000"/>
                </a:solidFill>
                <a:latin typeface="Verdana"/>
                <a:cs typeface="Verdana"/>
              </a:rPr>
              <a:t> </a:t>
            </a:r>
            <a:r>
              <a:rPr sz="2400" spc="-60" dirty="0">
                <a:solidFill>
                  <a:srgbClr val="000000"/>
                </a:solidFill>
                <a:latin typeface="Verdana"/>
                <a:cs typeface="Verdana"/>
              </a:rPr>
              <a:t>Electrical</a:t>
            </a:r>
            <a:r>
              <a:rPr sz="2400" spc="-165" dirty="0">
                <a:solidFill>
                  <a:srgbClr val="000000"/>
                </a:solidFill>
                <a:latin typeface="Verdana"/>
                <a:cs typeface="Verdana"/>
              </a:rPr>
              <a:t> </a:t>
            </a:r>
            <a:r>
              <a:rPr sz="2400" spc="-60" dirty="0">
                <a:solidFill>
                  <a:srgbClr val="000000"/>
                </a:solidFill>
                <a:latin typeface="Verdana"/>
                <a:cs typeface="Verdana"/>
              </a:rPr>
              <a:t>and</a:t>
            </a:r>
            <a:r>
              <a:rPr sz="2400" spc="-204" dirty="0">
                <a:solidFill>
                  <a:srgbClr val="000000"/>
                </a:solidFill>
                <a:latin typeface="Verdana"/>
                <a:cs typeface="Verdana"/>
              </a:rPr>
              <a:t> </a:t>
            </a:r>
            <a:r>
              <a:rPr sz="2400" spc="-65" dirty="0">
                <a:solidFill>
                  <a:srgbClr val="000000"/>
                </a:solidFill>
                <a:latin typeface="Verdana"/>
                <a:cs typeface="Verdana"/>
              </a:rPr>
              <a:t>Electronics</a:t>
            </a:r>
            <a:r>
              <a:rPr sz="2400" spc="-114" dirty="0">
                <a:solidFill>
                  <a:srgbClr val="000000"/>
                </a:solidFill>
                <a:latin typeface="Verdana"/>
                <a:cs typeface="Verdana"/>
              </a:rPr>
              <a:t> </a:t>
            </a:r>
            <a:r>
              <a:rPr sz="2400" spc="-30" dirty="0">
                <a:solidFill>
                  <a:srgbClr val="000000"/>
                </a:solidFill>
                <a:latin typeface="Verdana"/>
                <a:cs typeface="Verdana"/>
              </a:rPr>
              <a:t>Engineering</a:t>
            </a:r>
            <a:endParaRPr sz="2400" dirty="0">
              <a:latin typeface="Verdana"/>
              <a:cs typeface="Verdana"/>
            </a:endParaRPr>
          </a:p>
        </p:txBody>
      </p:sp>
      <p:sp>
        <p:nvSpPr>
          <p:cNvPr id="15" name="Google Shape;115;p1">
            <a:extLst>
              <a:ext uri="{FF2B5EF4-FFF2-40B4-BE49-F238E27FC236}">
                <a16:creationId xmlns:a16="http://schemas.microsoft.com/office/drawing/2014/main" id="{4B698BF5-166C-D763-E4AF-6D485A2C5C27}"/>
              </a:ext>
            </a:extLst>
          </p:cNvPr>
          <p:cNvSpPr/>
          <p:nvPr/>
        </p:nvSpPr>
        <p:spPr>
          <a:xfrm>
            <a:off x="789825" y="1484689"/>
            <a:ext cx="7693200" cy="1233900"/>
          </a:xfrm>
          <a:prstGeom prst="roundRect">
            <a:avLst>
              <a:gd name="adj" fmla="val 16667"/>
            </a:avLst>
          </a:prstGeom>
          <a:solidFill>
            <a:schemeClr val="lt1"/>
          </a:solidFill>
          <a:ln w="9525" cap="flat" cmpd="sng">
            <a:solidFill>
              <a:schemeClr val="accent4"/>
            </a:solidFill>
            <a:prstDash val="solid"/>
            <a:round/>
            <a:headEnd type="none" w="sm" len="sm"/>
            <a:tailEnd type="none" w="sm" len="sm"/>
          </a:ln>
          <a:effectLst>
            <a:outerShdw blurRad="76200" sy="23000" kx="1200000" algn="br" rotWithShape="0">
              <a:srgbClr val="000000">
                <a:alpha val="20000"/>
              </a:srgbClr>
            </a:outerShdw>
          </a:effectLst>
        </p:spPr>
        <p:txBody>
          <a:bodyPr spcFirstLastPara="1" wrap="square" lIns="91425" tIns="45700" rIns="91425" bIns="45700" anchor="ctr" anchorCtr="0">
            <a:noAutofit/>
          </a:bodyPr>
          <a:lstStyle/>
          <a:p>
            <a:pPr algn="ctr"/>
            <a:r>
              <a:rPr lang="en-IN" sz="2400" b="1" noProof="1">
                <a:latin typeface="Times New Roman" panose="02020603050405020304" pitchFamily="18" charset="0"/>
                <a:cs typeface="Times New Roman" panose="02020603050405020304" pitchFamily="18" charset="0"/>
              </a:rPr>
              <a:t>SOLAR WIRELESS POWER TRANSFER SYSTEM FOR ELECTRIC SHIPS</a:t>
            </a:r>
          </a:p>
        </p:txBody>
      </p:sp>
      <p:sp>
        <p:nvSpPr>
          <p:cNvPr id="16" name="TextBox 15">
            <a:extLst>
              <a:ext uri="{FF2B5EF4-FFF2-40B4-BE49-F238E27FC236}">
                <a16:creationId xmlns:a16="http://schemas.microsoft.com/office/drawing/2014/main" id="{0B9970EC-996E-A162-B98E-7FB1413111E3}"/>
              </a:ext>
            </a:extLst>
          </p:cNvPr>
          <p:cNvSpPr txBox="1"/>
          <p:nvPr/>
        </p:nvSpPr>
        <p:spPr>
          <a:xfrm>
            <a:off x="6172200" y="3974155"/>
            <a:ext cx="2519995" cy="1292662"/>
          </a:xfrm>
          <a:prstGeom prst="rect">
            <a:avLst/>
          </a:prstGeom>
          <a:noFill/>
        </p:spPr>
        <p:txBody>
          <a:bodyPr wrap="square" rtlCol="0">
            <a:spAutoFit/>
          </a:bodyPr>
          <a:lstStyle/>
          <a:p>
            <a:pPr marL="0" marR="0" lvl="0" indent="0" algn="ctr" rtl="0">
              <a:spcBef>
                <a:spcPts val="0"/>
              </a:spcBef>
              <a:spcAft>
                <a:spcPts val="0"/>
              </a:spcAft>
              <a:buNone/>
            </a:pPr>
            <a:r>
              <a:rPr lang="en-IN" sz="1800" b="1" noProof="1">
                <a:latin typeface="Book Antiqua"/>
                <a:sym typeface="Book Antiqua"/>
              </a:rPr>
              <a:t>Co- Guide</a:t>
            </a:r>
          </a:p>
          <a:p>
            <a:pPr marL="0" marR="0" lvl="0" indent="0" algn="ctr" rtl="0">
              <a:spcBef>
                <a:spcPts val="0"/>
              </a:spcBef>
              <a:spcAft>
                <a:spcPts val="0"/>
              </a:spcAft>
              <a:buNone/>
            </a:pPr>
            <a:r>
              <a:rPr lang="en-IN" sz="1400" b="1" noProof="1">
                <a:latin typeface="Times New Roman" panose="02020603050405020304" pitchFamily="18" charset="0"/>
                <a:cs typeface="Times New Roman" panose="02020603050405020304" pitchFamily="18" charset="0"/>
                <a:sym typeface="Book Antiqua"/>
              </a:rPr>
              <a:t>DR.Singaravelan A</a:t>
            </a:r>
          </a:p>
          <a:p>
            <a:pPr marL="0" marR="0" lvl="0" indent="0" algn="ctr" rtl="0">
              <a:spcBef>
                <a:spcPts val="0"/>
              </a:spcBef>
              <a:spcAft>
                <a:spcPts val="0"/>
              </a:spcAft>
              <a:buNone/>
            </a:pPr>
            <a:r>
              <a:rPr lang="en-IN" sz="1400" b="1" noProof="1">
                <a:latin typeface="Times New Roman" panose="02020603050405020304" pitchFamily="18" charset="0"/>
                <a:cs typeface="Times New Roman" panose="02020603050405020304" pitchFamily="18" charset="0"/>
                <a:sym typeface="Book Antiqua"/>
              </a:rPr>
              <a:t>ASSISTANT </a:t>
            </a:r>
            <a:r>
              <a:rPr lang="en-US" sz="1400" b="1" noProof="1">
                <a:latin typeface="Times New Roman" panose="02020603050405020304" pitchFamily="18" charset="0"/>
                <a:cs typeface="Times New Roman" panose="02020603050405020304" pitchFamily="18" charset="0"/>
                <a:sym typeface="Book Antiqua"/>
              </a:rPr>
              <a:t>PROFESSOR </a:t>
            </a:r>
            <a:endParaRPr lang="en-IN" sz="1400" b="1" noProof="1">
              <a:latin typeface="Times New Roman" panose="02020603050405020304" pitchFamily="18" charset="0"/>
              <a:cs typeface="Times New Roman" panose="02020603050405020304" pitchFamily="18" charset="0"/>
              <a:sym typeface="Book Antiqua"/>
            </a:endParaRPr>
          </a:p>
          <a:p>
            <a:pPr marL="0" marR="0" lvl="0" indent="0" algn="ctr" rtl="0">
              <a:spcBef>
                <a:spcPts val="0"/>
              </a:spcBef>
              <a:spcAft>
                <a:spcPts val="0"/>
              </a:spcAft>
              <a:buNone/>
            </a:pPr>
            <a:r>
              <a:rPr lang="en-IN" sz="1400" b="1" noProof="1">
                <a:latin typeface="Times New Roman" panose="02020603050405020304" pitchFamily="18" charset="0"/>
                <a:cs typeface="Times New Roman" panose="02020603050405020304" pitchFamily="18" charset="0"/>
                <a:sym typeface="Book Antiqua"/>
              </a:rPr>
              <a:t>Dept. of EEE,NMIT</a:t>
            </a:r>
          </a:p>
          <a:p>
            <a:endParaRPr lang="en-IN" dirty="0"/>
          </a:p>
        </p:txBody>
      </p:sp>
      <p:sp>
        <p:nvSpPr>
          <p:cNvPr id="6" name="Slide Number Placeholder 5">
            <a:extLst>
              <a:ext uri="{FF2B5EF4-FFF2-40B4-BE49-F238E27FC236}">
                <a16:creationId xmlns:a16="http://schemas.microsoft.com/office/drawing/2014/main" id="{60AD11B6-5C62-F653-EE96-754C3C954418}"/>
              </a:ext>
            </a:extLst>
          </p:cNvPr>
          <p:cNvSpPr>
            <a:spLocks noGrp="1"/>
          </p:cNvSpPr>
          <p:nvPr>
            <p:ph type="sldNum" sz="quarter" idx="7"/>
          </p:nvPr>
        </p:nvSpPr>
        <p:spPr/>
        <p:txBody>
          <a:bodyPr/>
          <a:lstStyle/>
          <a:p>
            <a:fld id="{81D60167-4931-47E6-BA6A-407CBD079E47}" type="slidenum">
              <a:rPr lang="en-US" spc="-50" dirty="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60" dirty="0">
                <a:latin typeface="Times New Roman" panose="02020603050405020304" pitchFamily="18" charset="0"/>
                <a:cs typeface="Times New Roman" panose="02020603050405020304" pitchFamily="18" charset="0"/>
              </a:rPr>
              <a:t>Content</a:t>
            </a:r>
          </a:p>
        </p:txBody>
      </p:sp>
      <p:sp>
        <p:nvSpPr>
          <p:cNvPr id="7" name="object 7"/>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50" dirty="0"/>
              <a:t>2</a:t>
            </a:fld>
            <a:endParaRPr spc="-50"/>
          </a:p>
        </p:txBody>
      </p:sp>
      <p:sp>
        <p:nvSpPr>
          <p:cNvPr id="8" name="object 8"/>
          <p:cNvSpPr txBox="1">
            <a:spLocks noGrp="1"/>
          </p:cNvSpPr>
          <p:nvPr>
            <p:ph type="dt" sz="half" idx="6"/>
          </p:nvPr>
        </p:nvSpPr>
        <p:spPr>
          <a:prstGeom prst="rect">
            <a:avLst/>
          </a:prstGeom>
        </p:spPr>
        <p:txBody>
          <a:bodyPr vert="horz" wrap="square" lIns="0" tIns="10160" rIns="0" bIns="0" rtlCol="0">
            <a:spAutoFit/>
          </a:bodyPr>
          <a:lstStyle/>
          <a:p>
            <a:pPr marL="12700">
              <a:lnSpc>
                <a:spcPct val="100000"/>
              </a:lnSpc>
              <a:spcBef>
                <a:spcPts val="80"/>
              </a:spcBef>
            </a:pPr>
            <a:r>
              <a:rPr spc="95"/>
              <a:t>Department</a:t>
            </a:r>
            <a:r>
              <a:rPr spc="-85"/>
              <a:t> </a:t>
            </a:r>
            <a:r>
              <a:rPr spc="60"/>
              <a:t>of</a:t>
            </a:r>
            <a:r>
              <a:rPr spc="-45"/>
              <a:t> </a:t>
            </a:r>
            <a:r>
              <a:rPr spc="-25"/>
              <a:t>EEE</a:t>
            </a:r>
          </a:p>
        </p:txBody>
      </p:sp>
      <p:sp>
        <p:nvSpPr>
          <p:cNvPr id="10" name="TextBox 9">
            <a:extLst>
              <a:ext uri="{FF2B5EF4-FFF2-40B4-BE49-F238E27FC236}">
                <a16:creationId xmlns:a16="http://schemas.microsoft.com/office/drawing/2014/main" id="{966D3225-C7EA-C15E-5EF7-262F284DE499}"/>
              </a:ext>
            </a:extLst>
          </p:cNvPr>
          <p:cNvSpPr txBox="1"/>
          <p:nvPr/>
        </p:nvSpPr>
        <p:spPr>
          <a:xfrm>
            <a:off x="381000" y="1275671"/>
            <a:ext cx="8763000" cy="54476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lnSpc>
                <a:spcPct val="150000"/>
              </a:lnSpc>
              <a:buFont typeface=""/>
              <a:buChar char="•"/>
            </a:pPr>
            <a:r>
              <a:rPr lang="en-US" sz="2000" b="1" dirty="0">
                <a:latin typeface="Times New Roman"/>
                <a:cs typeface="Times New Roman"/>
              </a:rPr>
              <a:t>Motivation / Introduction</a:t>
            </a:r>
            <a:r>
              <a:rPr lang="en-US" sz="2000" dirty="0">
                <a:latin typeface="Times New Roman"/>
                <a:cs typeface="Times New Roman"/>
              </a:rPr>
              <a:t> – Why this problem is important.</a:t>
            </a:r>
            <a:endParaRPr lang="en-US" sz="2000" dirty="0">
              <a:solidFill>
                <a:srgbClr val="000000"/>
              </a:solidFill>
              <a:latin typeface="Times New Roman"/>
              <a:cs typeface="Times New Roman"/>
            </a:endParaRPr>
          </a:p>
          <a:p>
            <a:pPr marL="228600" indent="-228600" algn="just">
              <a:lnSpc>
                <a:spcPct val="150000"/>
              </a:lnSpc>
              <a:buFont typeface=""/>
              <a:buChar char="•"/>
            </a:pPr>
            <a:r>
              <a:rPr lang="en-US" sz="2000" b="1" dirty="0">
                <a:latin typeface="Times New Roman"/>
                <a:cs typeface="Times New Roman"/>
              </a:rPr>
              <a:t>Literature Survey</a:t>
            </a:r>
            <a:r>
              <a:rPr lang="en-US" sz="2000" dirty="0">
                <a:latin typeface="Times New Roman"/>
                <a:cs typeface="Times New Roman"/>
              </a:rPr>
              <a:t> – Table/diagram comparing existing works vs proposed work.</a:t>
            </a:r>
          </a:p>
          <a:p>
            <a:pPr marL="228600" indent="-228600" algn="just">
              <a:lnSpc>
                <a:spcPct val="150000"/>
              </a:lnSpc>
              <a:buFont typeface=""/>
              <a:buChar char="•"/>
            </a:pPr>
            <a:r>
              <a:rPr lang="en-US" sz="2000" b="1" dirty="0">
                <a:latin typeface="Times New Roman"/>
                <a:cs typeface="Times New Roman"/>
              </a:rPr>
              <a:t>Problem Statement</a:t>
            </a:r>
            <a:r>
              <a:rPr lang="en-US" sz="2000" dirty="0">
                <a:latin typeface="Times New Roman"/>
                <a:cs typeface="Times New Roman"/>
              </a:rPr>
              <a:t> – In one clear slide.</a:t>
            </a:r>
          </a:p>
          <a:p>
            <a:pPr marL="228600" indent="-228600" algn="just">
              <a:lnSpc>
                <a:spcPct val="150000"/>
              </a:lnSpc>
              <a:buFont typeface=""/>
              <a:buChar char="•"/>
            </a:pPr>
            <a:r>
              <a:rPr lang="en-US" sz="2000" b="1" dirty="0">
                <a:latin typeface="Times New Roman"/>
                <a:cs typeface="Times New Roman"/>
              </a:rPr>
              <a:t>Objectives</a:t>
            </a:r>
            <a:r>
              <a:rPr lang="en-US" sz="2000" dirty="0">
                <a:latin typeface="Times New Roman"/>
                <a:cs typeface="Times New Roman"/>
              </a:rPr>
              <a:t> – Bullet points.</a:t>
            </a:r>
          </a:p>
          <a:p>
            <a:pPr marL="228600" indent="-228600" algn="just">
              <a:lnSpc>
                <a:spcPct val="150000"/>
              </a:lnSpc>
              <a:buFont typeface=""/>
              <a:buChar char="•"/>
            </a:pPr>
            <a:r>
              <a:rPr lang="en-US" sz="2000" b="1" dirty="0">
                <a:latin typeface="Times New Roman"/>
                <a:cs typeface="Times New Roman"/>
              </a:rPr>
              <a:t>Proposed Methodology</a:t>
            </a:r>
            <a:r>
              <a:rPr lang="en-US" sz="2000" dirty="0">
                <a:latin typeface="Times New Roman"/>
                <a:cs typeface="Times New Roman"/>
              </a:rPr>
              <a:t> – Flowchart/block diagram.</a:t>
            </a:r>
          </a:p>
          <a:p>
            <a:pPr marL="228600" indent="-228600" algn="just">
              <a:lnSpc>
                <a:spcPct val="150000"/>
              </a:lnSpc>
              <a:buFont typeface=""/>
              <a:buChar char="•"/>
            </a:pPr>
            <a:r>
              <a:rPr lang="en-US" sz="2000" b="1" dirty="0">
                <a:latin typeface="Times New Roman"/>
                <a:cs typeface="Times New Roman"/>
              </a:rPr>
              <a:t>Work Done So Far</a:t>
            </a:r>
          </a:p>
          <a:p>
            <a:pPr marL="228600" indent="-228600" algn="just">
              <a:lnSpc>
                <a:spcPct val="150000"/>
              </a:lnSpc>
              <a:buFont typeface=""/>
              <a:buChar char="•"/>
            </a:pPr>
            <a:r>
              <a:rPr lang="en-US" sz="2000" b="1" dirty="0">
                <a:latin typeface="Times New Roman"/>
                <a:cs typeface="Times New Roman"/>
              </a:rPr>
              <a:t>Expected Outcomes</a:t>
            </a:r>
            <a:r>
              <a:rPr lang="en-US" sz="2000" dirty="0">
                <a:latin typeface="Times New Roman"/>
                <a:cs typeface="Times New Roman"/>
              </a:rPr>
              <a:t> – Bullet list (performance improvement, design prototype, simulation, etc.).</a:t>
            </a:r>
          </a:p>
          <a:p>
            <a:pPr marL="228600" indent="-228600" algn="just">
              <a:lnSpc>
                <a:spcPct val="150000"/>
              </a:lnSpc>
              <a:buFont typeface=""/>
              <a:buChar char="•"/>
            </a:pPr>
            <a:r>
              <a:rPr lang="en-US" sz="2000" b="1" dirty="0">
                <a:latin typeface="Times New Roman"/>
                <a:cs typeface="Times New Roman"/>
              </a:rPr>
              <a:t>Work Plan / timeline chart</a:t>
            </a:r>
            <a:r>
              <a:rPr lang="en-US" sz="2000" dirty="0">
                <a:latin typeface="Times New Roman"/>
                <a:cs typeface="Times New Roman"/>
              </a:rPr>
              <a:t> – Semester-wise timeline.</a:t>
            </a:r>
          </a:p>
          <a:p>
            <a:pPr marL="228600" indent="-228600" algn="just">
              <a:lnSpc>
                <a:spcPct val="150000"/>
              </a:lnSpc>
              <a:buFont typeface=""/>
              <a:buChar char="•"/>
            </a:pPr>
            <a:r>
              <a:rPr lang="en-US" sz="2000" b="1" dirty="0">
                <a:latin typeface="Times New Roman"/>
                <a:cs typeface="Times New Roman"/>
              </a:rPr>
              <a:t>Team Role Distribution</a:t>
            </a:r>
            <a:r>
              <a:rPr lang="en-US" sz="2000" dirty="0">
                <a:latin typeface="Times New Roman"/>
                <a:cs typeface="Times New Roman"/>
              </a:rPr>
              <a:t> – Who handles what part.</a:t>
            </a:r>
          </a:p>
          <a:p>
            <a:pPr marL="228600" indent="-228600" algn="just">
              <a:lnSpc>
                <a:spcPct val="150000"/>
              </a:lnSpc>
              <a:buFont typeface=""/>
              <a:buChar char="•"/>
            </a:pPr>
            <a:r>
              <a:rPr lang="en-US" sz="2000" b="1" dirty="0">
                <a:latin typeface="Times New Roman"/>
                <a:cs typeface="Times New Roman"/>
              </a:rPr>
              <a:t>References</a:t>
            </a:r>
            <a:r>
              <a:rPr lang="en-US" sz="2000" dirty="0">
                <a:latin typeface="Times New Roman"/>
                <a:cs typeface="Times New Roman"/>
              </a:rPr>
              <a:t> – IEEE format.</a:t>
            </a:r>
          </a:p>
          <a:p>
            <a:pPr algn="just"/>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486099"/>
            <a:ext cx="4244340" cy="518159"/>
          </a:xfrm>
          <a:prstGeom prst="rect">
            <a:avLst/>
          </a:prstGeom>
        </p:spPr>
        <p:txBody>
          <a:bodyPr vert="horz" wrap="square" lIns="0" tIns="16510" rIns="0" bIns="0" rtlCol="0">
            <a:spAutoFit/>
          </a:bodyPr>
          <a:lstStyle/>
          <a:p>
            <a:pPr marL="12700">
              <a:lnSpc>
                <a:spcPct val="100000"/>
              </a:lnSpc>
              <a:spcBef>
                <a:spcPts val="130"/>
              </a:spcBef>
            </a:pPr>
            <a:r>
              <a:rPr spc="-10" dirty="0">
                <a:latin typeface="Times New Roman" panose="02020603050405020304" pitchFamily="18" charset="0"/>
                <a:cs typeface="Times New Roman" panose="02020603050405020304" pitchFamily="18" charset="0"/>
              </a:rPr>
              <a:t>Introduction</a:t>
            </a:r>
          </a:p>
        </p:txBody>
      </p:sp>
      <p:sp>
        <p:nvSpPr>
          <p:cNvPr id="3" name="object 3"/>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50" dirty="0"/>
              <a:t>3</a:t>
            </a:fld>
            <a:endParaRPr spc="-50" dirty="0"/>
          </a:p>
        </p:txBody>
      </p:sp>
      <p:sp>
        <p:nvSpPr>
          <p:cNvPr id="4" name="object 4"/>
          <p:cNvSpPr txBox="1">
            <a:spLocks noGrp="1"/>
          </p:cNvSpPr>
          <p:nvPr>
            <p:ph type="dt" sz="half" idx="6"/>
          </p:nvPr>
        </p:nvSpPr>
        <p:spPr>
          <a:prstGeom prst="rect">
            <a:avLst/>
          </a:prstGeom>
        </p:spPr>
        <p:txBody>
          <a:bodyPr vert="horz" wrap="square" lIns="0" tIns="10160" rIns="0" bIns="0" rtlCol="0">
            <a:spAutoFit/>
          </a:bodyPr>
          <a:lstStyle/>
          <a:p>
            <a:pPr marL="12700">
              <a:lnSpc>
                <a:spcPct val="100000"/>
              </a:lnSpc>
              <a:spcBef>
                <a:spcPts val="80"/>
              </a:spcBef>
            </a:pPr>
            <a:r>
              <a:rPr spc="95" dirty="0"/>
              <a:t>Department</a:t>
            </a:r>
            <a:r>
              <a:rPr spc="-85" dirty="0"/>
              <a:t> </a:t>
            </a:r>
            <a:r>
              <a:rPr spc="60" dirty="0"/>
              <a:t>of</a:t>
            </a:r>
            <a:r>
              <a:rPr spc="-45" dirty="0"/>
              <a:t> </a:t>
            </a:r>
            <a:r>
              <a:rPr spc="-25" dirty="0"/>
              <a:t>EEE</a:t>
            </a:r>
          </a:p>
        </p:txBody>
      </p:sp>
      <p:sp>
        <p:nvSpPr>
          <p:cNvPr id="6" name="TextBox 5">
            <a:extLst>
              <a:ext uri="{FF2B5EF4-FFF2-40B4-BE49-F238E27FC236}">
                <a16:creationId xmlns:a16="http://schemas.microsoft.com/office/drawing/2014/main" id="{B88F65C2-05C9-912C-3551-98827B91F7BA}"/>
              </a:ext>
            </a:extLst>
          </p:cNvPr>
          <p:cNvSpPr txBox="1"/>
          <p:nvPr/>
        </p:nvSpPr>
        <p:spPr>
          <a:xfrm>
            <a:off x="666750" y="1295400"/>
            <a:ext cx="8076406" cy="4247317"/>
          </a:xfrm>
          <a:prstGeom prst="rect">
            <a:avLst/>
          </a:prstGeom>
          <a:noFill/>
        </p:spPr>
        <p:txBody>
          <a:bodyPr wrap="square" lIns="91440" tIns="45720" rIns="91440" bIns="45720" rtlCol="0" anchor="t">
            <a:spAutoFit/>
          </a:bodyPr>
          <a:lstStyle/>
          <a:p>
            <a:r>
              <a:t>The increasing adoption of electric vehicles (EVs) has created the need for charging systems that are efficient, safe, and sustainable. Traditional wired charging stations face challenges such as long charging times, safety risks, and dependency on grid electricity, which is often generated from fossil fuels. To address these issues, this project develops a solar-powered wireless power transfer (WPT) system based on magnetic resonance coupling for EV charging. The system integrates a photovoltaic (PV) source with a resonance-based WPT circuit to provide contactless, eco-friendly, and reliable charging. A complete model is designed and simulated in MATLAB/Simulink, analyzing factors such as coil alignment, air-gap variations, and efficiency. A low-power prototype validates the simulation, showing efficient energy transfer over practical coil distances. The results demonstrate the feasibility and scalability of combining renewable energy with wireless charging, while also highlighting challenges like misalignment sensitivity and reduced efficiency at larger gaps.</a:t>
            </a:r>
          </a:p>
          <a:p/>
          <a:p/>
          <a:p>
            <a:r>
              <a:t>The system also supports real-time monitoring using an ESP32 WiFi module. Users can monitor voltage, current, power, and battery charging status directly on a mobile phone.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latin typeface="Times New Roman" panose="02020603050405020304" pitchFamily="18" charset="0"/>
                <a:cs typeface="Times New Roman" panose="02020603050405020304" pitchFamily="18" charset="0"/>
              </a:rPr>
              <a:t>Literature</a:t>
            </a:r>
            <a:r>
              <a:rPr spc="280" dirty="0">
                <a:latin typeface="Times New Roman" panose="02020603050405020304" pitchFamily="18" charset="0"/>
                <a:cs typeface="Times New Roman" panose="02020603050405020304" pitchFamily="18" charset="0"/>
              </a:rPr>
              <a:t> </a:t>
            </a:r>
            <a:r>
              <a:rPr spc="65" dirty="0">
                <a:latin typeface="Times New Roman" panose="02020603050405020304" pitchFamily="18" charset="0"/>
                <a:cs typeface="Times New Roman" panose="02020603050405020304" pitchFamily="18" charset="0"/>
              </a:rPr>
              <a:t>Survey</a:t>
            </a:r>
          </a:p>
        </p:txBody>
      </p:sp>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50" dirty="0"/>
              <a:t>4</a:t>
            </a:fld>
            <a:endParaRPr spc="-50"/>
          </a:p>
        </p:txBody>
      </p:sp>
      <p:sp>
        <p:nvSpPr>
          <p:cNvPr id="5" name="object 5"/>
          <p:cNvSpPr txBox="1">
            <a:spLocks noGrp="1"/>
          </p:cNvSpPr>
          <p:nvPr>
            <p:ph type="dt" sz="half" idx="6"/>
          </p:nvPr>
        </p:nvSpPr>
        <p:spPr>
          <a:prstGeom prst="rect">
            <a:avLst/>
          </a:prstGeom>
        </p:spPr>
        <p:txBody>
          <a:bodyPr vert="horz" wrap="square" lIns="0" tIns="10160" rIns="0" bIns="0" rtlCol="0">
            <a:spAutoFit/>
          </a:bodyPr>
          <a:lstStyle/>
          <a:p>
            <a:pPr marL="12700">
              <a:lnSpc>
                <a:spcPct val="100000"/>
              </a:lnSpc>
              <a:spcBef>
                <a:spcPts val="80"/>
              </a:spcBef>
            </a:pPr>
            <a:r>
              <a:rPr spc="95"/>
              <a:t>Department</a:t>
            </a:r>
            <a:r>
              <a:rPr spc="-85"/>
              <a:t> </a:t>
            </a:r>
            <a:r>
              <a:rPr spc="60"/>
              <a:t>of</a:t>
            </a:r>
            <a:r>
              <a:rPr spc="-45"/>
              <a:t> </a:t>
            </a:r>
            <a:r>
              <a:rPr spc="-25"/>
              <a:t>EEE</a:t>
            </a:r>
          </a:p>
        </p:txBody>
      </p:sp>
      <p:graphicFrame>
        <p:nvGraphicFramePr>
          <p:cNvPr id="3" name="object 3"/>
          <p:cNvGraphicFramePr>
            <a:graphicFrameLocks noGrp="1"/>
          </p:cNvGraphicFramePr>
          <p:nvPr>
            <p:extLst>
              <p:ext uri="{D42A27DB-BD31-4B8C-83A1-F6EECF244321}">
                <p14:modId xmlns:p14="http://schemas.microsoft.com/office/powerpoint/2010/main" val="2124380712"/>
              </p:ext>
            </p:extLst>
          </p:nvPr>
        </p:nvGraphicFramePr>
        <p:xfrm>
          <a:off x="381000" y="1095283"/>
          <a:ext cx="8538981" cy="5193758"/>
        </p:xfrm>
        <a:graphic>
          <a:graphicData uri="http://schemas.openxmlformats.org/drawingml/2006/table">
            <a:tbl>
              <a:tblPr firstRow="1" bandRow="1">
                <a:tableStyleId>{2D5ABB26-0587-4C30-8999-92F81FD0307C}</a:tableStyleId>
              </a:tblPr>
              <a:tblGrid>
                <a:gridCol w="656393">
                  <a:extLst>
                    <a:ext uri="{9D8B030D-6E8A-4147-A177-3AD203B41FA5}">
                      <a16:colId xmlns:a16="http://schemas.microsoft.com/office/drawing/2014/main" val="20000"/>
                    </a:ext>
                  </a:extLst>
                </a:gridCol>
                <a:gridCol w="2791139">
                  <a:extLst>
                    <a:ext uri="{9D8B030D-6E8A-4147-A177-3AD203B41FA5}">
                      <a16:colId xmlns:a16="http://schemas.microsoft.com/office/drawing/2014/main" val="20001"/>
                    </a:ext>
                  </a:extLst>
                </a:gridCol>
                <a:gridCol w="1968528">
                  <a:extLst>
                    <a:ext uri="{9D8B030D-6E8A-4147-A177-3AD203B41FA5}">
                      <a16:colId xmlns:a16="http://schemas.microsoft.com/office/drawing/2014/main" val="20002"/>
                    </a:ext>
                  </a:extLst>
                </a:gridCol>
                <a:gridCol w="3122921">
                  <a:extLst>
                    <a:ext uri="{9D8B030D-6E8A-4147-A177-3AD203B41FA5}">
                      <a16:colId xmlns:a16="http://schemas.microsoft.com/office/drawing/2014/main" val="20003"/>
                    </a:ext>
                  </a:extLst>
                </a:gridCol>
              </a:tblGrid>
              <a:tr h="406347">
                <a:tc>
                  <a:txBody>
                    <a:bodyPr/>
                    <a:lstStyle/>
                    <a:p>
                      <a:pPr marL="55880" indent="0">
                        <a:lnSpc>
                          <a:spcPct val="100000"/>
                        </a:lnSpc>
                        <a:spcBef>
                          <a:spcPts val="1390"/>
                        </a:spcBef>
                        <a:buFont typeface="Arial" panose="020B0604020202020204" pitchFamily="34" charset="0"/>
                        <a:buNone/>
                      </a:pPr>
                      <a:r>
                        <a:rPr sz="1400" b="1" spc="-105">
                          <a:latin typeface="Tahoma"/>
                          <a:cs typeface="Tahoma"/>
                        </a:rPr>
                        <a:t>Sl.</a:t>
                      </a:r>
                      <a:r>
                        <a:rPr sz="1400" b="1" spc="5">
                          <a:latin typeface="Tahoma"/>
                          <a:cs typeface="Tahoma"/>
                        </a:rPr>
                        <a:t> </a:t>
                      </a:r>
                      <a:r>
                        <a:rPr sz="1400" b="1" spc="-25">
                          <a:latin typeface="Tahoma"/>
                          <a:cs typeface="Tahoma"/>
                        </a:rPr>
                        <a:t>No.</a:t>
                      </a:r>
                      <a:endParaRPr sz="1400">
                        <a:latin typeface="Tahoma"/>
                        <a:cs typeface="Tahoma"/>
                      </a:endParaRPr>
                    </a:p>
                  </a:txBody>
                  <a:tcPr marL="0" marR="0" marT="17653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solidFill>
                      <a:srgbClr val="D7D7D7"/>
                    </a:solidFill>
                  </a:tcPr>
                </a:tc>
                <a:tc>
                  <a:txBody>
                    <a:bodyPr/>
                    <a:lstStyle/>
                    <a:p>
                      <a:pPr marL="528320">
                        <a:lnSpc>
                          <a:spcPct val="100000"/>
                        </a:lnSpc>
                        <a:spcBef>
                          <a:spcPts val="1390"/>
                        </a:spcBef>
                      </a:pPr>
                      <a:r>
                        <a:rPr sz="1400" b="1" spc="-65">
                          <a:latin typeface="Tahoma"/>
                          <a:cs typeface="Tahoma"/>
                        </a:rPr>
                        <a:t>Details </a:t>
                      </a:r>
                      <a:r>
                        <a:rPr sz="1400" b="1">
                          <a:latin typeface="Tahoma"/>
                          <a:cs typeface="Tahoma"/>
                        </a:rPr>
                        <a:t>of</a:t>
                      </a:r>
                      <a:r>
                        <a:rPr sz="1400" b="1" spc="-50">
                          <a:latin typeface="Tahoma"/>
                          <a:cs typeface="Tahoma"/>
                        </a:rPr>
                        <a:t> </a:t>
                      </a:r>
                      <a:r>
                        <a:rPr sz="1400" b="1" spc="-60">
                          <a:latin typeface="Tahoma"/>
                          <a:cs typeface="Tahoma"/>
                        </a:rPr>
                        <a:t>the</a:t>
                      </a:r>
                      <a:r>
                        <a:rPr sz="1400" b="1" spc="-50">
                          <a:latin typeface="Tahoma"/>
                          <a:cs typeface="Tahoma"/>
                        </a:rPr>
                        <a:t> </a:t>
                      </a:r>
                      <a:r>
                        <a:rPr sz="1400" b="1" spc="-10">
                          <a:latin typeface="Tahoma"/>
                          <a:cs typeface="Tahoma"/>
                        </a:rPr>
                        <a:t>Paper</a:t>
                      </a:r>
                      <a:endParaRPr sz="1400">
                        <a:latin typeface="Tahoma"/>
                        <a:cs typeface="Tahoma"/>
                      </a:endParaRPr>
                    </a:p>
                  </a:txBody>
                  <a:tcPr marL="0" marR="0" marT="17653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solidFill>
                      <a:srgbClr val="D7D7D7"/>
                    </a:solidFill>
                  </a:tcPr>
                </a:tc>
                <a:tc>
                  <a:txBody>
                    <a:bodyPr/>
                    <a:lstStyle/>
                    <a:p>
                      <a:pPr marL="382905">
                        <a:lnSpc>
                          <a:spcPct val="100000"/>
                        </a:lnSpc>
                        <a:spcBef>
                          <a:spcPts val="1390"/>
                        </a:spcBef>
                      </a:pPr>
                      <a:r>
                        <a:rPr sz="1400" b="1" spc="-10">
                          <a:latin typeface="Tahoma"/>
                          <a:cs typeface="Tahoma"/>
                        </a:rPr>
                        <a:t>Methodology</a:t>
                      </a:r>
                      <a:endParaRPr sz="1400">
                        <a:latin typeface="Tahoma"/>
                        <a:cs typeface="Tahoma"/>
                      </a:endParaRPr>
                    </a:p>
                  </a:txBody>
                  <a:tcPr marL="0" marR="0" marT="17653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solidFill>
                      <a:srgbClr val="D7D7D7"/>
                    </a:solidFill>
                  </a:tcPr>
                </a:tc>
                <a:tc>
                  <a:txBody>
                    <a:bodyPr/>
                    <a:lstStyle/>
                    <a:p>
                      <a:pPr marL="15240" algn="ctr">
                        <a:lnSpc>
                          <a:spcPct val="100000"/>
                        </a:lnSpc>
                        <a:spcBef>
                          <a:spcPts val="1390"/>
                        </a:spcBef>
                      </a:pPr>
                      <a:r>
                        <a:rPr sz="1400" b="1" spc="-10">
                          <a:latin typeface="Tahoma"/>
                          <a:cs typeface="Tahoma"/>
                        </a:rPr>
                        <a:t>Outcome</a:t>
                      </a:r>
                      <a:endParaRPr sz="1400">
                        <a:latin typeface="Tahoma"/>
                        <a:cs typeface="Tahoma"/>
                      </a:endParaRPr>
                    </a:p>
                  </a:txBody>
                  <a:tcPr marL="0" marR="0" marT="17653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solidFill>
                      <a:srgbClr val="D7D7D7"/>
                    </a:solidFill>
                  </a:tcPr>
                </a:tc>
                <a:extLst>
                  <a:ext uri="{0D108BD9-81ED-4DB2-BD59-A6C34878D82A}">
                    <a16:rowId xmlns:a16="http://schemas.microsoft.com/office/drawing/2014/main" val="10000"/>
                  </a:ext>
                </a:extLst>
              </a:tr>
              <a:tr h="1521470">
                <a:tc>
                  <a:txBody>
                    <a:bodyPr/>
                    <a:lstStyle/>
                    <a:p>
                      <a:pPr>
                        <a:lnSpc>
                          <a:spcPct val="100000"/>
                        </a:lnSpc>
                        <a:spcBef>
                          <a:spcPts val="1000"/>
                        </a:spcBef>
                      </a:pPr>
                      <a:endParaRPr sz="1400">
                        <a:latin typeface="Times New Roman"/>
                        <a:cs typeface="Times New Roman"/>
                      </a:endParaRPr>
                    </a:p>
                    <a:p>
                      <a:pPr marL="29209">
                        <a:lnSpc>
                          <a:spcPct val="100000"/>
                        </a:lnSpc>
                      </a:pPr>
                      <a:r>
                        <a:rPr sz="1400" spc="-50">
                          <a:latin typeface="Tahoma"/>
                          <a:cs typeface="Tahoma"/>
                        </a:rPr>
                        <a:t>1</a:t>
                      </a:r>
                      <a:endParaRPr sz="1400">
                        <a:latin typeface="Tahoma"/>
                        <a:cs typeface="Tahoma"/>
                      </a:endParaRPr>
                    </a:p>
                  </a:txBody>
                  <a:tcPr marL="0" marR="0" marT="12700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tcPr>
                </a:tc>
                <a:tc>
                  <a:txBody>
                    <a:bodyPr/>
                    <a:lstStyle/>
                    <a:p>
                      <a:pPr marL="29845" marR="16510" algn="l">
                        <a:lnSpc>
                          <a:spcPct val="98400"/>
                        </a:lnSpc>
                        <a:spcBef>
                          <a:spcPts val="955"/>
                        </a:spcBef>
                        <a:tabLst>
                          <a:tab pos="1336675" algn="l"/>
                          <a:tab pos="2082800" algn="l"/>
                        </a:tabLst>
                      </a:pPr>
                      <a:r>
                        <a:rPr lang="en-US" sz="1400" i="0" dirty="0">
                          <a:latin typeface="Times New Roman"/>
                          <a:cs typeface="Times New Roman"/>
                        </a:rPr>
                        <a:t>Design and Implementation of Resonance based Wireless Power Transfer System.</a:t>
                      </a:r>
                      <a:endParaRPr sz="1400" i="0" dirty="0">
                        <a:latin typeface="Times New Roman"/>
                        <a:cs typeface="Times New Roman"/>
                      </a:endParaRPr>
                    </a:p>
                  </a:txBody>
                  <a:tcPr marL="0" marR="0" marT="121285"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tcPr>
                </a:tc>
                <a:tc>
                  <a:txBody>
                    <a:bodyPr/>
                    <a:lstStyle/>
                    <a:p>
                      <a:pPr marL="32384" marR="13335" algn="ctr">
                        <a:lnSpc>
                          <a:spcPct val="102899"/>
                        </a:lnSpc>
                        <a:spcBef>
                          <a:spcPts val="40"/>
                        </a:spcBef>
                        <a:tabLst>
                          <a:tab pos="1109980" algn="l"/>
                          <a:tab pos="1539240" algn="l"/>
                        </a:tabLst>
                      </a:pPr>
                      <a:r>
                        <a:rPr lang="en-US" sz="1100">
                          <a:latin typeface="Times New Roman" panose="02020603050405020304" pitchFamily="18" charset="0"/>
                          <a:cs typeface="Times New Roman" panose="02020603050405020304" pitchFamily="18" charset="0"/>
                        </a:rPr>
                        <a:t>This paper implements a resonance-based WPT system using series–series compensation to achieve efficient power transfer over an air gap. A high-frequency inverter excites the transmitter coil, and experimental results are used to validate system efficiency.</a:t>
                      </a:r>
                      <a:endParaRPr sz="1100">
                        <a:latin typeface="Times New Roman" panose="02020603050405020304" pitchFamily="18" charset="0"/>
                        <a:cs typeface="Times New Roman" panose="02020603050405020304" pitchFamily="18" charset="0"/>
                      </a:endParaRPr>
                    </a:p>
                  </a:txBody>
                  <a:tcPr marL="0" marR="0" marT="508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tcPr>
                </a:tc>
                <a:tc>
                  <a:txBody>
                    <a:bodyPr/>
                    <a:lstStyle/>
                    <a:p>
                      <a:pPr marL="34290" marR="6350" algn="ctr">
                        <a:lnSpc>
                          <a:spcPct val="98400"/>
                        </a:lnSpc>
                        <a:spcBef>
                          <a:spcPts val="955"/>
                        </a:spcBef>
                        <a:tabLst>
                          <a:tab pos="1912620" algn="l"/>
                        </a:tabLst>
                      </a:pPr>
                      <a:r>
                        <a:rPr lang="en-US" sz="1400">
                          <a:latin typeface="Times New Roman" panose="02020603050405020304" pitchFamily="18" charset="0"/>
                          <a:cs typeface="Times New Roman" panose="02020603050405020304" pitchFamily="18" charset="0"/>
                        </a:rPr>
                        <a:t>The study demonstrated successful wireless power transfer using resonance, achieving improved efficiency over a practical air gap. The results confirmed that series–series compensation enhances power transfer performance.</a:t>
                      </a:r>
                      <a:endParaRPr sz="1400">
                        <a:latin typeface="Times New Roman" panose="02020603050405020304" pitchFamily="18" charset="0"/>
                        <a:cs typeface="Times New Roman" panose="02020603050405020304" pitchFamily="18" charset="0"/>
                      </a:endParaRPr>
                    </a:p>
                  </a:txBody>
                  <a:tcPr marL="0" marR="0" marT="121285"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tcPr>
                </a:tc>
                <a:extLst>
                  <a:ext uri="{0D108BD9-81ED-4DB2-BD59-A6C34878D82A}">
                    <a16:rowId xmlns:a16="http://schemas.microsoft.com/office/drawing/2014/main" val="10001"/>
                  </a:ext>
                </a:extLst>
              </a:tr>
              <a:tr h="1653916">
                <a:tc>
                  <a:txBody>
                    <a:bodyPr/>
                    <a:lstStyle/>
                    <a:p>
                      <a:pPr>
                        <a:lnSpc>
                          <a:spcPct val="100000"/>
                        </a:lnSpc>
                        <a:spcBef>
                          <a:spcPts val="1250"/>
                        </a:spcBef>
                      </a:pPr>
                      <a:endParaRPr sz="1400">
                        <a:latin typeface="Times New Roman"/>
                        <a:cs typeface="Times New Roman"/>
                      </a:endParaRPr>
                    </a:p>
                    <a:p>
                      <a:pPr marL="29209">
                        <a:lnSpc>
                          <a:spcPct val="100000"/>
                        </a:lnSpc>
                      </a:pPr>
                      <a:r>
                        <a:rPr sz="1400" spc="-50">
                          <a:latin typeface="Tahoma"/>
                          <a:cs typeface="Tahoma"/>
                        </a:rPr>
                        <a:t>2</a:t>
                      </a:r>
                      <a:endParaRPr sz="1400">
                        <a:latin typeface="Tahoma"/>
                        <a:cs typeface="Tahoma"/>
                      </a:endParaRPr>
                    </a:p>
                  </a:txBody>
                  <a:tcPr marL="0" marR="0" marT="15875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tcPr>
                </a:tc>
                <a:tc>
                  <a:txBody>
                    <a:bodyPr/>
                    <a:lstStyle/>
                    <a:p>
                      <a:pPr marL="29845" marR="19050" algn="just">
                        <a:lnSpc>
                          <a:spcPct val="105400"/>
                        </a:lnSpc>
                        <a:spcBef>
                          <a:spcPts val="110"/>
                        </a:spcBef>
                      </a:pPr>
                      <a:r>
                        <a:rPr lang="en-IN" sz="1050" i="0" dirty="0">
                          <a:latin typeface="Times New Roman"/>
                          <a:cs typeface="Times New Roman"/>
                        </a:rPr>
                        <a:t>Comprehensive Mathematical Modelling </a:t>
                      </a:r>
                      <a:r>
                        <a:rPr lang="en-IN" sz="1050" i="0" dirty="0" err="1">
                          <a:latin typeface="Times New Roman"/>
                          <a:cs typeface="Times New Roman"/>
                        </a:rPr>
                        <a:t>andE</a:t>
                      </a:r>
                      <a:r>
                        <a:rPr lang="en-IN" sz="1050" i="0" dirty="0">
                          <a:latin typeface="Times New Roman"/>
                          <a:cs typeface="Times New Roman"/>
                        </a:rPr>
                        <a:t> </a:t>
                      </a:r>
                      <a:r>
                        <a:rPr lang="en-IN" sz="1050" i="0" dirty="0" err="1">
                          <a:latin typeface="Times New Roman"/>
                          <a:cs typeface="Times New Roman"/>
                        </a:rPr>
                        <a:t>xperimental</a:t>
                      </a:r>
                      <a:r>
                        <a:rPr lang="en-IN" sz="1050" i="0" dirty="0">
                          <a:latin typeface="Times New Roman"/>
                          <a:cs typeface="Times New Roman"/>
                        </a:rPr>
                        <a:t> Analysis of a Wireless Power Transfer System for </a:t>
                      </a:r>
                      <a:r>
                        <a:rPr lang="en-IN" sz="1050" i="0" dirty="0" err="1">
                          <a:latin typeface="Times New Roman"/>
                          <a:cs typeface="Times New Roman"/>
                        </a:rPr>
                        <a:t>Neighborhood</a:t>
                      </a:r>
                      <a:r>
                        <a:rPr lang="en-IN" sz="1050" i="0" dirty="0">
                          <a:latin typeface="Times New Roman"/>
                          <a:cs typeface="Times New Roman"/>
                        </a:rPr>
                        <a:t> Electric Vehicles </a:t>
                      </a:r>
                      <a:r>
                        <a:rPr lang="en-IN" sz="1050" i="0" dirty="0" err="1">
                          <a:latin typeface="Times New Roman"/>
                          <a:cs typeface="Times New Roman"/>
                        </a:rPr>
                        <a:t>Merugu</a:t>
                      </a:r>
                      <a:r>
                        <a:rPr lang="en-IN" sz="1050" i="0" dirty="0">
                          <a:latin typeface="Times New Roman"/>
                          <a:cs typeface="Times New Roman"/>
                        </a:rPr>
                        <a:t> Kavitha1, Phaneendra Babu Bobba2, Dinkar Prasad3Department of Electrical Engineering, Shiv Nadar University, Gautam Buddha Nagar, UP, India.mk508@snu.edu.in1, phaneendra.bobba@snu.edu.in2,dinkar.prasad@snu.edu.in3</a:t>
                      </a:r>
                      <a:endParaRPr sz="1050" i="0" dirty="0">
                        <a:latin typeface="Times New Roman"/>
                        <a:cs typeface="Times New Roman"/>
                      </a:endParaRPr>
                    </a:p>
                  </a:txBody>
                  <a:tcPr marL="0" marR="0" marT="1397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tcPr>
                </a:tc>
                <a:tc>
                  <a:txBody>
                    <a:bodyPr/>
                    <a:lstStyle/>
                    <a:p>
                      <a:pPr algn="ctr">
                        <a:lnSpc>
                          <a:spcPct val="100000"/>
                        </a:lnSpc>
                      </a:pPr>
                      <a:r>
                        <a:rPr lang="en-US" sz="1100">
                          <a:latin typeface="Times New Roman" panose="02020603050405020304" pitchFamily="18" charset="0"/>
                          <a:cs typeface="Times New Roman" panose="02020603050405020304" pitchFamily="18" charset="0"/>
                        </a:rPr>
                        <a:t>This work develops a mathematical model of a magnetic resonance WPT system and validates it using MATLAB/Simulink simulations. The simulated results are experimentally verified to study efficiency variation with frequency and coil distance</a:t>
                      </a:r>
                      <a:r>
                        <a:rPr lang="en-US" sz="1400">
                          <a:latin typeface="Times New Roman" panose="02020603050405020304" pitchFamily="18" charset="0"/>
                          <a:cs typeface="Times New Roman" panose="02020603050405020304" pitchFamily="18" charset="0"/>
                        </a:rPr>
                        <a:t>.</a:t>
                      </a:r>
                      <a:endParaRPr sz="1400">
                        <a:latin typeface="Times New Roman" panose="02020603050405020304" pitchFamily="18" charset="0"/>
                        <a:cs typeface="Times New Roman" panose="02020603050405020304" pitchFamily="18" charset="0"/>
                      </a:endParaRPr>
                    </a:p>
                  </a:txBody>
                  <a:tcPr marL="0" marR="0" marT="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tcPr>
                </a:tc>
                <a:tc>
                  <a:txBody>
                    <a:bodyPr/>
                    <a:lstStyle/>
                    <a:p>
                      <a:pPr algn="ctr">
                        <a:lnSpc>
                          <a:spcPct val="100000"/>
                        </a:lnSpc>
                      </a:pPr>
                      <a:r>
                        <a:rPr lang="en-US" sz="1400">
                          <a:latin typeface="Times New Roman" panose="02020603050405020304" pitchFamily="18" charset="0"/>
                          <a:cs typeface="Times New Roman" panose="02020603050405020304" pitchFamily="18" charset="0"/>
                        </a:rPr>
                        <a:t>The mathematical model and MATLAB/Simulink simulations closely matched experimental results. The system achieved higher efficiency at optimal resonant frequencies and shorter coil distances.</a:t>
                      </a:r>
                      <a:endParaRPr sz="1400">
                        <a:latin typeface="Times New Roman" panose="02020603050405020304" pitchFamily="18" charset="0"/>
                        <a:cs typeface="Times New Roman" panose="02020603050405020304" pitchFamily="18" charset="0"/>
                      </a:endParaRPr>
                    </a:p>
                  </a:txBody>
                  <a:tcPr marL="0" marR="0" marT="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tcPr>
                </a:tc>
                <a:extLst>
                  <a:ext uri="{0D108BD9-81ED-4DB2-BD59-A6C34878D82A}">
                    <a16:rowId xmlns:a16="http://schemas.microsoft.com/office/drawing/2014/main" val="10002"/>
                  </a:ext>
                </a:extLst>
              </a:tr>
              <a:tr h="1612025">
                <a:tc>
                  <a:txBody>
                    <a:bodyPr/>
                    <a:lstStyle/>
                    <a:p>
                      <a:pPr>
                        <a:lnSpc>
                          <a:spcPct val="100000"/>
                        </a:lnSpc>
                        <a:spcBef>
                          <a:spcPts val="1090"/>
                        </a:spcBef>
                      </a:pPr>
                      <a:endParaRPr sz="1400" i="1">
                        <a:latin typeface="Times New Roman"/>
                        <a:cs typeface="Times New Roman"/>
                      </a:endParaRPr>
                    </a:p>
                    <a:p>
                      <a:pPr marL="28575">
                        <a:lnSpc>
                          <a:spcPct val="100000"/>
                        </a:lnSpc>
                        <a:spcBef>
                          <a:spcPts val="5"/>
                        </a:spcBef>
                      </a:pPr>
                      <a:r>
                        <a:rPr sz="1400" i="1" spc="-50">
                          <a:latin typeface="Tahoma"/>
                          <a:cs typeface="Tahoma"/>
                        </a:rPr>
                        <a:t>3</a:t>
                      </a:r>
                      <a:endParaRPr sz="1400" i="1">
                        <a:latin typeface="Tahoma"/>
                        <a:cs typeface="Tahoma"/>
                      </a:endParaRPr>
                    </a:p>
                  </a:txBody>
                  <a:tcPr marL="0" marR="0" marT="13843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tcPr>
                </a:tc>
                <a:tc>
                  <a:txBody>
                    <a:bodyPr/>
                    <a:lstStyle/>
                    <a:p>
                      <a:pPr>
                        <a:lnSpc>
                          <a:spcPct val="100000"/>
                        </a:lnSpc>
                      </a:pPr>
                      <a:r>
                        <a:rPr lang="en-IN" sz="1000" i="1" dirty="0">
                          <a:latin typeface="Times New Roman"/>
                          <a:cs typeface="Times New Roman"/>
                        </a:rPr>
                        <a:t>F</a:t>
                      </a:r>
                      <a:r>
                        <a:rPr lang="en-IN" sz="1000" i="0" dirty="0">
                          <a:latin typeface="Times New Roman"/>
                          <a:cs typeface="Times New Roman"/>
                        </a:rPr>
                        <a:t>loating solar wireless power transfer system for electric ships: Design and laboratory tests*Khalifa Aliyu Ibrahim a, Timoth ´e Le Mar´ </a:t>
                      </a:r>
                      <a:r>
                        <a:rPr lang="en-IN" sz="1000" i="0" dirty="0" err="1">
                          <a:latin typeface="Times New Roman"/>
                          <a:cs typeface="Times New Roman"/>
                        </a:rPr>
                        <a:t>echal</a:t>
                      </a:r>
                      <a:r>
                        <a:rPr lang="en-IN" sz="1000" i="0" dirty="0">
                          <a:latin typeface="Times New Roman"/>
                          <a:cs typeface="Times New Roman"/>
                        </a:rPr>
                        <a:t> a, Patrick Luk a, Qing </a:t>
                      </a:r>
                      <a:r>
                        <a:rPr lang="en-IN" sz="1000" i="0" dirty="0" err="1">
                          <a:latin typeface="Times New Roman"/>
                          <a:cs typeface="Times New Roman"/>
                        </a:rPr>
                        <a:t>Qina</a:t>
                      </a:r>
                      <a:r>
                        <a:rPr lang="en-IN" sz="1000" i="0" dirty="0">
                          <a:latin typeface="Times New Roman"/>
                          <a:cs typeface="Times New Roman"/>
                        </a:rPr>
                        <a:t>, </a:t>
                      </a:r>
                      <a:r>
                        <a:rPr lang="en-IN" sz="1000" i="0" dirty="0" err="1">
                          <a:latin typeface="Times New Roman"/>
                          <a:cs typeface="Times New Roman"/>
                        </a:rPr>
                        <a:t>Luofeng</a:t>
                      </a:r>
                      <a:r>
                        <a:rPr lang="en-IN" sz="1000" i="0" dirty="0">
                          <a:latin typeface="Times New Roman"/>
                          <a:cs typeface="Times New Roman"/>
                        </a:rPr>
                        <a:t> </a:t>
                      </a:r>
                      <a:r>
                        <a:rPr lang="en-IN" sz="1000" i="0" dirty="0" err="1">
                          <a:latin typeface="Times New Roman"/>
                          <a:cs typeface="Times New Roman"/>
                        </a:rPr>
                        <a:t>Huanga,Ying</a:t>
                      </a:r>
                      <a:r>
                        <a:rPr lang="en-IN" sz="1000" i="0" dirty="0">
                          <a:latin typeface="Times New Roman"/>
                          <a:cs typeface="Times New Roman"/>
                        </a:rPr>
                        <a:t> Xie b, Patrick Verdin a, Zhenhua Luo aa Faculty of Engineering and Applied Sciences, Cranfield University, Cranfield MK430AL, </a:t>
                      </a:r>
                      <a:r>
                        <a:rPr lang="en-IN" sz="1000" i="0" dirty="0" err="1">
                          <a:latin typeface="Times New Roman"/>
                          <a:cs typeface="Times New Roman"/>
                        </a:rPr>
                        <a:t>UKb</a:t>
                      </a:r>
                      <a:r>
                        <a:rPr lang="en-IN" sz="1000" i="0" dirty="0">
                          <a:latin typeface="Times New Roman"/>
                          <a:cs typeface="Times New Roman"/>
                        </a:rPr>
                        <a:t> Faculty of Business and Management, Cranfield University, Cranfield MK430AL, UK</a:t>
                      </a:r>
                      <a:endParaRPr sz="1000" i="0" dirty="0">
                        <a:latin typeface="Times New Roman"/>
                        <a:cs typeface="Times New Roman"/>
                      </a:endParaRPr>
                    </a:p>
                  </a:txBody>
                  <a:tcPr marL="0" marR="0" marT="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tcPr>
                </a:tc>
                <a:tc>
                  <a:txBody>
                    <a:bodyPr/>
                    <a:lstStyle/>
                    <a:p>
                      <a:pPr algn="ctr">
                        <a:lnSpc>
                          <a:spcPct val="100000"/>
                        </a:lnSpc>
                      </a:pPr>
                      <a:r>
                        <a:rPr lang="en-US" sz="1050">
                          <a:latin typeface="Times New Roman" panose="02020603050405020304" pitchFamily="18" charset="0"/>
                          <a:cs typeface="Times New Roman" panose="02020603050405020304" pitchFamily="18" charset="0"/>
                        </a:rPr>
                        <a:t>This paper integrates floating solar photovoltaic systems with wireless power transfer for maritime applications. Simulation using electromagnetic tools and laboratory testing are carried out to evaluate system performance under practical conditions.</a:t>
                      </a:r>
                      <a:endParaRPr sz="1050">
                        <a:latin typeface="Times New Roman" panose="02020603050405020304" pitchFamily="18" charset="0"/>
                        <a:cs typeface="Times New Roman" panose="02020603050405020304" pitchFamily="18" charset="0"/>
                      </a:endParaRPr>
                    </a:p>
                  </a:txBody>
                  <a:tcPr marL="0" marR="0" marT="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tcPr>
                </a:tc>
                <a:tc>
                  <a:txBody>
                    <a:bodyPr/>
                    <a:lstStyle/>
                    <a:p>
                      <a:pPr algn="ctr">
                        <a:lnSpc>
                          <a:spcPct val="100000"/>
                        </a:lnSpc>
                      </a:pPr>
                      <a:r>
                        <a:rPr lang="en-US" sz="1400" dirty="0">
                          <a:latin typeface="Times New Roman" panose="02020603050405020304" pitchFamily="18" charset="0"/>
                          <a:cs typeface="Times New Roman" panose="02020603050405020304" pitchFamily="18" charset="0"/>
                        </a:rPr>
                        <a:t>The integration of floating solar with wireless power transfer enabled sustainable, off-grid charging. Experimental results showed reliable power transfer with high efficiency under laboratory conditions.</a:t>
                      </a:r>
                      <a:endParaRPr sz="1400" dirty="0">
                        <a:latin typeface="Times New Roman" panose="02020603050405020304" pitchFamily="18" charset="0"/>
                        <a:cs typeface="Times New Roman" panose="02020603050405020304" pitchFamily="18" charset="0"/>
                      </a:endParaRPr>
                    </a:p>
                  </a:txBody>
                  <a:tcPr marL="0" marR="0" marT="0" marB="0">
                    <a:lnL w="12700">
                      <a:solidFill>
                        <a:srgbClr val="7B9749"/>
                      </a:solidFill>
                      <a:prstDash val="solid"/>
                    </a:lnL>
                    <a:lnR w="12700">
                      <a:solidFill>
                        <a:srgbClr val="7B9749"/>
                      </a:solidFill>
                      <a:prstDash val="solid"/>
                    </a:lnR>
                    <a:lnT w="12700">
                      <a:solidFill>
                        <a:srgbClr val="7B9749"/>
                      </a:solidFill>
                      <a:prstDash val="solid"/>
                    </a:lnT>
                    <a:lnB w="12700">
                      <a:solidFill>
                        <a:srgbClr val="7B9749"/>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50" dirty="0">
                <a:latin typeface="Times New Roman" panose="02020603050405020304" pitchFamily="18" charset="0"/>
                <a:cs typeface="Times New Roman" panose="02020603050405020304" pitchFamily="18" charset="0"/>
              </a:rPr>
              <a:t>Problem</a:t>
            </a:r>
            <a:r>
              <a:rPr spc="5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Statement</a:t>
            </a:r>
          </a:p>
        </p:txBody>
      </p:sp>
      <p:sp>
        <p:nvSpPr>
          <p:cNvPr id="6" name="object 6"/>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50" dirty="0"/>
              <a:t>5</a:t>
            </a:fld>
            <a:endParaRPr spc="-50" dirty="0"/>
          </a:p>
        </p:txBody>
      </p:sp>
      <p:sp>
        <p:nvSpPr>
          <p:cNvPr id="7" name="object 7"/>
          <p:cNvSpPr txBox="1">
            <a:spLocks noGrp="1"/>
          </p:cNvSpPr>
          <p:nvPr>
            <p:ph type="dt" sz="half" idx="6"/>
          </p:nvPr>
        </p:nvSpPr>
        <p:spPr>
          <a:prstGeom prst="rect">
            <a:avLst/>
          </a:prstGeom>
        </p:spPr>
        <p:txBody>
          <a:bodyPr vert="horz" wrap="square" lIns="0" tIns="10160" rIns="0" bIns="0" rtlCol="0">
            <a:spAutoFit/>
          </a:bodyPr>
          <a:lstStyle/>
          <a:p>
            <a:pPr marL="12700">
              <a:lnSpc>
                <a:spcPct val="100000"/>
              </a:lnSpc>
              <a:spcBef>
                <a:spcPts val="80"/>
              </a:spcBef>
            </a:pPr>
            <a:r>
              <a:rPr spc="95" dirty="0"/>
              <a:t>Department</a:t>
            </a:r>
            <a:r>
              <a:rPr spc="-85" dirty="0"/>
              <a:t> </a:t>
            </a:r>
            <a:r>
              <a:rPr spc="60" dirty="0"/>
              <a:t>of</a:t>
            </a:r>
            <a:r>
              <a:rPr spc="-45" dirty="0"/>
              <a:t> </a:t>
            </a:r>
            <a:r>
              <a:rPr spc="-25" dirty="0"/>
              <a:t>EEE</a:t>
            </a:r>
          </a:p>
        </p:txBody>
      </p:sp>
      <p:sp>
        <p:nvSpPr>
          <p:cNvPr id="3" name="object 3"/>
          <p:cNvSpPr txBox="1"/>
          <p:nvPr/>
        </p:nvSpPr>
        <p:spPr>
          <a:xfrm>
            <a:off x="560705" y="1228036"/>
            <a:ext cx="4340226" cy="320601"/>
          </a:xfrm>
          <a:prstGeom prst="rect">
            <a:avLst/>
          </a:prstGeom>
        </p:spPr>
        <p:txBody>
          <a:bodyPr vert="horz" wrap="square" lIns="0" tIns="12700" rIns="0" bIns="0" rtlCol="0">
            <a:spAutoFit/>
          </a:bodyPr>
          <a:lstStyle/>
          <a:p>
            <a:pPr marL="298450" indent="-285750">
              <a:lnSpc>
                <a:spcPct val="100000"/>
              </a:lnSpc>
              <a:spcBef>
                <a:spcPts val="100"/>
              </a:spcBef>
              <a:buFont typeface="Arial" panose="020B0604020202020204" pitchFamily="34" charset="0"/>
              <a:buChar char="•"/>
              <a:tabLst>
                <a:tab pos="287020" algn="l"/>
              </a:tabLst>
            </a:pPr>
            <a:r>
              <a:rPr sz="2000" b="1" spc="-100" dirty="0">
                <a:latin typeface="Times New Roman" panose="02020603050405020304" pitchFamily="18" charset="0"/>
                <a:cs typeface="Times New Roman" panose="02020603050405020304" pitchFamily="18" charset="0"/>
              </a:rPr>
              <a:t>What’s</a:t>
            </a:r>
            <a:r>
              <a:rPr sz="2000" b="1" spc="-35" dirty="0">
                <a:latin typeface="Times New Roman" panose="02020603050405020304" pitchFamily="18" charset="0"/>
                <a:cs typeface="Times New Roman" panose="02020603050405020304" pitchFamily="18" charset="0"/>
              </a:rPr>
              <a:t> </a:t>
            </a:r>
            <a:r>
              <a:rPr sz="2000" b="1" spc="-60" dirty="0">
                <a:latin typeface="Times New Roman" panose="02020603050405020304" pitchFamily="18" charset="0"/>
                <a:cs typeface="Times New Roman" panose="02020603050405020304" pitchFamily="18" charset="0"/>
              </a:rPr>
              <a:t>the</a:t>
            </a:r>
            <a:r>
              <a:rPr sz="2000" b="1" spc="-45" dirty="0">
                <a:latin typeface="Times New Roman" panose="02020603050405020304" pitchFamily="18" charset="0"/>
                <a:cs typeface="Times New Roman" panose="02020603050405020304" pitchFamily="18" charset="0"/>
              </a:rPr>
              <a:t> </a:t>
            </a:r>
            <a:r>
              <a:rPr sz="2000" b="1" spc="-105" dirty="0">
                <a:latin typeface="Times New Roman" panose="02020603050405020304" pitchFamily="18" charset="0"/>
                <a:cs typeface="Times New Roman" panose="02020603050405020304" pitchFamily="18" charset="0"/>
              </a:rPr>
              <a:t>Issue?</a:t>
            </a:r>
            <a:endParaRPr sz="20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560705" y="2909746"/>
            <a:ext cx="1620520" cy="320601"/>
          </a:xfrm>
          <a:prstGeom prst="rect">
            <a:avLst/>
          </a:prstGeom>
        </p:spPr>
        <p:txBody>
          <a:bodyPr vert="horz" wrap="square" lIns="0" tIns="12700" rIns="0" bIns="0" rtlCol="0">
            <a:spAutoFit/>
          </a:bodyPr>
          <a:lstStyle/>
          <a:p>
            <a:pPr marL="298450" indent="-285750">
              <a:lnSpc>
                <a:spcPct val="100000"/>
              </a:lnSpc>
              <a:spcBef>
                <a:spcPts val="100"/>
              </a:spcBef>
              <a:buFont typeface="Arial" panose="020B0604020202020204" pitchFamily="34" charset="0"/>
              <a:buChar char="•"/>
              <a:tabLst>
                <a:tab pos="287020" algn="l"/>
              </a:tabLst>
            </a:pPr>
            <a:r>
              <a:rPr sz="2000" b="1" spc="-10" dirty="0">
                <a:latin typeface="Times New Roman" panose="02020603050405020304" pitchFamily="18" charset="0"/>
                <a:cs typeface="Times New Roman" panose="02020603050405020304" pitchFamily="18" charset="0"/>
              </a:rPr>
              <a:t>Challenges</a:t>
            </a:r>
            <a:endParaRPr sz="20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790488" y="5100332"/>
            <a:ext cx="7650861" cy="1059264"/>
          </a:xfrm>
          <a:prstGeom prst="rect">
            <a:avLst/>
          </a:prstGeom>
        </p:spPr>
        <p:txBody>
          <a:bodyPr vert="horz" wrap="square" lIns="0" tIns="12700" rIns="0" bIns="0" rtlCol="0">
            <a:spAutoFit/>
          </a:bodyPr>
          <a:lstStyle/>
          <a:p>
            <a:pPr marL="12700" algn="just">
              <a:lnSpc>
                <a:spcPct val="100000"/>
              </a:lnSpc>
              <a:spcBef>
                <a:spcPts val="100"/>
              </a:spcBef>
              <a:tabLst>
                <a:tab pos="287020" algn="l"/>
              </a:tabLst>
            </a:pPr>
            <a:r>
              <a:rPr lang="en-US" sz="1700" dirty="0">
                <a:latin typeface="Times New Roman" panose="02020603050405020304" pitchFamily="18" charset="0"/>
                <a:cs typeface="Times New Roman" panose="02020603050405020304" pitchFamily="18" charset="0"/>
              </a:rPr>
              <a:t>Develop a reliable, efficient, and sustainable charging system for electric ships by integrating floating solar energy with resonance-based wireless power transfer, overcoming challenges like solar intermittency, coil misalignment, air –gap variations, and resonance detuning to enable scalable and safe marine charging solutions.</a:t>
            </a:r>
            <a:endParaRPr sz="17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F28DACB-7D80-4E91-4864-678CCA1D2FCB}"/>
              </a:ext>
            </a:extLst>
          </p:cNvPr>
          <p:cNvSpPr txBox="1"/>
          <p:nvPr/>
        </p:nvSpPr>
        <p:spPr>
          <a:xfrm>
            <a:off x="746569" y="1526169"/>
            <a:ext cx="7650861" cy="1400383"/>
          </a:xfrm>
          <a:prstGeom prst="rect">
            <a:avLst/>
          </a:prstGeom>
          <a:noFill/>
        </p:spPr>
        <p:txBody>
          <a:bodyPr wrap="square" rtlCol="0">
            <a:spAutoFit/>
          </a:bodyPr>
          <a:lstStyle/>
          <a:p>
            <a:pPr algn="just" rtl="0"/>
            <a:r>
              <a:rPr lang="en-US" sz="1700" dirty="0">
                <a:latin typeface="Times New Roman" panose="02020603050405020304" pitchFamily="18" charset="0"/>
                <a:cs typeface="Times New Roman" panose="02020603050405020304" pitchFamily="18" charset="0"/>
              </a:rPr>
              <a:t>The maritime  sector needs sustainable charging for electrification and decarbonization .Conventional wired systems face safety, corrosion ,and handling issues. Wireless Power Transfer enables contactless charging but struggles with misalignment ,air gaps and wave motion. Integrating floating solar offers off-grid ,green energy, yet intermittency and efficiency optimization remain key challenges.</a:t>
            </a:r>
          </a:p>
        </p:txBody>
      </p:sp>
      <p:sp>
        <p:nvSpPr>
          <p:cNvPr id="10" name="TextBox 9">
            <a:extLst>
              <a:ext uri="{FF2B5EF4-FFF2-40B4-BE49-F238E27FC236}">
                <a16:creationId xmlns:a16="http://schemas.microsoft.com/office/drawing/2014/main" id="{3756E942-1B40-75C4-FB52-741A3D183E66}"/>
              </a:ext>
            </a:extLst>
          </p:cNvPr>
          <p:cNvSpPr txBox="1"/>
          <p:nvPr/>
        </p:nvSpPr>
        <p:spPr>
          <a:xfrm>
            <a:off x="746569" y="3251771"/>
            <a:ext cx="5901055" cy="1400383"/>
          </a:xfrm>
          <a:prstGeom prst="rect">
            <a:avLst/>
          </a:prstGeom>
          <a:noFill/>
        </p:spPr>
        <p:txBody>
          <a:bodyPr wrap="square" rtlCol="0">
            <a:spAutoFit/>
          </a:bodyPr>
          <a:lstStyle/>
          <a:p>
            <a:pPr marL="285750" indent="-285750" algn="jus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intermittent solar supply</a:t>
            </a:r>
          </a:p>
          <a:p>
            <a:pPr marL="285750" indent="-285750" algn="jus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Coil misalignment and gap losses</a:t>
            </a:r>
          </a:p>
          <a:p>
            <a:pPr marL="285750" indent="-285750" algn="jus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Resonance detuning</a:t>
            </a:r>
          </a:p>
          <a:p>
            <a:pPr marL="285750" indent="-285750" algn="jus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High setup cost</a:t>
            </a:r>
          </a:p>
          <a:p>
            <a:pPr marL="285750" indent="-285750" algn="jus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Scalability and EMI issues </a:t>
            </a:r>
          </a:p>
        </p:txBody>
      </p:sp>
      <p:sp>
        <p:nvSpPr>
          <p:cNvPr id="11" name="TextBox 10">
            <a:extLst>
              <a:ext uri="{FF2B5EF4-FFF2-40B4-BE49-F238E27FC236}">
                <a16:creationId xmlns:a16="http://schemas.microsoft.com/office/drawing/2014/main" id="{41AC49C0-1E7F-983C-A1BB-7D350A1BF1B2}"/>
              </a:ext>
            </a:extLst>
          </p:cNvPr>
          <p:cNvSpPr txBox="1"/>
          <p:nvPr/>
        </p:nvSpPr>
        <p:spPr>
          <a:xfrm>
            <a:off x="539346" y="4676188"/>
            <a:ext cx="2438400" cy="400110"/>
          </a:xfrm>
          <a:prstGeom prst="rect">
            <a:avLst/>
          </a:prstGeom>
          <a:noFill/>
        </p:spPr>
        <p:txBody>
          <a:bodyPr wrap="square" rtlCol="0">
            <a:spAutoFit/>
          </a:bodyPr>
          <a:lstStyle/>
          <a:p>
            <a:pPr marL="2857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Problem to solve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42A7F-F1FF-0756-FDAD-537C9E5E9E5C}"/>
              </a:ext>
            </a:extLst>
          </p:cNvPr>
          <p:cNvSpPr>
            <a:spLocks noGrp="1"/>
          </p:cNvSpPr>
          <p:nvPr>
            <p:ph type="title"/>
          </p:nvPr>
        </p:nvSpPr>
        <p:spPr>
          <a:xfrm>
            <a:off x="533400" y="556892"/>
            <a:ext cx="4244340" cy="492443"/>
          </a:xfrm>
        </p:spPr>
        <p:txBody>
          <a:bodyPr/>
          <a:lstStyle/>
          <a:p>
            <a:r>
              <a:rPr lang="en-US"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Book Antiqua"/>
              </a:rPr>
              <a:t>Objectives</a:t>
            </a:r>
            <a:endParaRPr lang="en-IN"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07C52F3-01F9-8CD6-A4AA-81132F958755}"/>
              </a:ext>
            </a:extLst>
          </p:cNvPr>
          <p:cNvSpPr>
            <a:spLocks noGrp="1"/>
          </p:cNvSpPr>
          <p:nvPr>
            <p:ph type="body" idx="1"/>
          </p:nvPr>
        </p:nvSpPr>
        <p:spPr>
          <a:xfrm>
            <a:off x="514004" y="1219200"/>
            <a:ext cx="8305801" cy="2585323"/>
          </a:xfrm>
        </p:spPr>
        <p:txBody>
          <a:bodyPr/>
          <a:lstStyle/>
          <a:p>
            <a:r>
              <a:t>Design a floating solar- powered WPT system for ships</a:t>
            </a:r>
          </a:p>
          <a:p>
            <a:r>
              <a:t>Analysis efficiency under varying coil alignment and air – gap conditions</a:t>
            </a:r>
          </a:p>
          <a:p>
            <a:r>
              <a:t>Optimize system for reliability, low losses, and scalability</a:t>
            </a:r>
          </a:p>
          <a:p>
            <a:r>
              <a:t>Integrate soler energy for sustainable, off- grid charging</a:t>
            </a:r>
          </a:p>
          <a:p>
            <a:r>
              <a:t>a floating solar- powered WPT system for ships</a:t>
            </a:r>
          </a:p>
          <a:p/>
          <a:p>
            <a:r>
              <a:t>• Implement ESP32 WiFi monitoring for real-time parameter display on mobile phones.</a:t>
            </a:r>
          </a:p>
          <a:p>
            <a:r>
              <a:t>• Develop multiple charging modes including wireless charging, onboard solar charging, and hydrogen fuel cell backup.</a:t>
            </a:r>
          </a:p>
        </p:txBody>
      </p:sp>
      <p:sp>
        <p:nvSpPr>
          <p:cNvPr id="5" name="Slide Number Placeholder 4">
            <a:extLst>
              <a:ext uri="{FF2B5EF4-FFF2-40B4-BE49-F238E27FC236}">
                <a16:creationId xmlns:a16="http://schemas.microsoft.com/office/drawing/2014/main" id="{EBEE5E72-F89D-FA67-FF58-38FD9C060BC5}"/>
              </a:ext>
            </a:extLst>
          </p:cNvPr>
          <p:cNvSpPr>
            <a:spLocks noGrp="1"/>
          </p:cNvSpPr>
          <p:nvPr>
            <p:ph type="sldNum" sz="quarter" idx="7"/>
          </p:nvPr>
        </p:nvSpPr>
        <p:spPr/>
        <p:txBody>
          <a:bodyPr/>
          <a:lstStyle/>
          <a:p>
            <a:fld id="{81D60167-4931-47E6-BA6A-407CBD079E47}" type="slidenum">
              <a:rPr lang="en-US" spc="-50" dirty="0"/>
              <a:t>6</a:t>
            </a:fld>
            <a:endParaRPr lang="en-US"/>
          </a:p>
        </p:txBody>
      </p:sp>
    </p:spTree>
    <p:extLst>
      <p:ext uri="{BB962C8B-B14F-4D97-AF65-F5344CB8AC3E}">
        <p14:creationId xmlns:p14="http://schemas.microsoft.com/office/powerpoint/2010/main" val="1205012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6575" y="255962"/>
            <a:ext cx="4244340" cy="518159"/>
          </a:xfrm>
          <a:prstGeom prst="rect">
            <a:avLst/>
          </a:prstGeom>
        </p:spPr>
        <p:txBody>
          <a:bodyPr vert="horz" wrap="square" lIns="0" tIns="16510" rIns="0" bIns="0" rtlCol="0">
            <a:spAutoFit/>
          </a:bodyPr>
          <a:lstStyle/>
          <a:p>
            <a:pPr marL="12700">
              <a:lnSpc>
                <a:spcPct val="100000"/>
              </a:lnSpc>
              <a:spcBef>
                <a:spcPts val="130"/>
              </a:spcBef>
            </a:pPr>
            <a:r>
              <a:rPr spc="90"/>
              <a:t>Methodology</a:t>
            </a:r>
          </a:p>
        </p:txBody>
      </p:sp>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7</a:t>
            </a:fld>
            <a:endParaRPr spc="-25"/>
          </a:p>
        </p:txBody>
      </p:sp>
      <p:sp>
        <p:nvSpPr>
          <p:cNvPr id="6" name="object 6"/>
          <p:cNvSpPr txBox="1">
            <a:spLocks noGrp="1"/>
          </p:cNvSpPr>
          <p:nvPr>
            <p:ph type="dt" sz="half" idx="6"/>
          </p:nvPr>
        </p:nvSpPr>
        <p:spPr>
          <a:prstGeom prst="rect">
            <a:avLst/>
          </a:prstGeom>
        </p:spPr>
        <p:txBody>
          <a:bodyPr vert="horz" wrap="square" lIns="0" tIns="73669" rIns="0" bIns="0" rtlCol="0">
            <a:spAutoFit/>
          </a:bodyPr>
          <a:lstStyle/>
          <a:p>
            <a:pPr marL="430530">
              <a:lnSpc>
                <a:spcPct val="100000"/>
              </a:lnSpc>
              <a:spcBef>
                <a:spcPts val="85"/>
              </a:spcBef>
            </a:pPr>
            <a:r>
              <a:rPr spc="95"/>
              <a:t>Department</a:t>
            </a:r>
            <a:r>
              <a:rPr spc="-85"/>
              <a:t> </a:t>
            </a:r>
            <a:r>
              <a:rPr spc="60"/>
              <a:t>of</a:t>
            </a:r>
            <a:r>
              <a:rPr spc="-40"/>
              <a:t> </a:t>
            </a:r>
            <a:r>
              <a:rPr spc="-25"/>
              <a:t>EEE</a:t>
            </a:r>
          </a:p>
        </p:txBody>
      </p:sp>
      <p:graphicFrame>
        <p:nvGraphicFramePr>
          <p:cNvPr id="3" name="object 3"/>
          <p:cNvGraphicFramePr>
            <a:graphicFrameLocks noGrp="1"/>
          </p:cNvGraphicFramePr>
          <p:nvPr>
            <p:extLst>
              <p:ext uri="{D42A27DB-BD31-4B8C-83A1-F6EECF244321}">
                <p14:modId xmlns:p14="http://schemas.microsoft.com/office/powerpoint/2010/main" val="3300400901"/>
              </p:ext>
            </p:extLst>
          </p:nvPr>
        </p:nvGraphicFramePr>
        <p:xfrm>
          <a:off x="453643" y="1139265"/>
          <a:ext cx="8309357" cy="5152274"/>
        </p:xfrm>
        <a:graphic>
          <a:graphicData uri="http://schemas.openxmlformats.org/drawingml/2006/table">
            <a:tbl>
              <a:tblPr firstRow="1" bandRow="1">
                <a:tableStyleId>{2D5ABB26-0587-4C30-8999-92F81FD0307C}</a:tableStyleId>
              </a:tblPr>
              <a:tblGrid>
                <a:gridCol w="2557147">
                  <a:extLst>
                    <a:ext uri="{9D8B030D-6E8A-4147-A177-3AD203B41FA5}">
                      <a16:colId xmlns:a16="http://schemas.microsoft.com/office/drawing/2014/main" val="20000"/>
                    </a:ext>
                  </a:extLst>
                </a:gridCol>
                <a:gridCol w="5752210">
                  <a:extLst>
                    <a:ext uri="{9D8B030D-6E8A-4147-A177-3AD203B41FA5}">
                      <a16:colId xmlns:a16="http://schemas.microsoft.com/office/drawing/2014/main" val="20001"/>
                    </a:ext>
                  </a:extLst>
                </a:gridCol>
              </a:tblGrid>
              <a:tr h="262912">
                <a:tc>
                  <a:txBody>
                    <a:bodyPr/>
                    <a:lstStyle/>
                    <a:p>
                      <a:pPr marL="3175" algn="ctr">
                        <a:lnSpc>
                          <a:spcPct val="100000"/>
                        </a:lnSpc>
                        <a:spcBef>
                          <a:spcPts val="240"/>
                        </a:spcBef>
                      </a:pPr>
                      <a:r>
                        <a:rPr sz="1400" b="1" spc="-20">
                          <a:latin typeface="Tahoma"/>
                          <a:cs typeface="Tahoma"/>
                        </a:rPr>
                        <a:t>Step</a:t>
                      </a:r>
                      <a:endParaRPr sz="1400">
                        <a:latin typeface="Tahoma"/>
                        <a:cs typeface="Tahoma"/>
                      </a:endParaRPr>
                    </a:p>
                  </a:txBody>
                  <a:tcPr marL="0" marR="0" marT="30480"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solidFill>
                      <a:srgbClr val="E3EBD6"/>
                    </a:solidFill>
                  </a:tcPr>
                </a:tc>
                <a:tc>
                  <a:txBody>
                    <a:bodyPr/>
                    <a:lstStyle/>
                    <a:p>
                      <a:pPr marL="11430" algn="ctr">
                        <a:lnSpc>
                          <a:spcPct val="100000"/>
                        </a:lnSpc>
                        <a:spcBef>
                          <a:spcPts val="240"/>
                        </a:spcBef>
                      </a:pPr>
                      <a:r>
                        <a:rPr sz="1400" b="1" spc="-10">
                          <a:latin typeface="Tahoma"/>
                          <a:cs typeface="Tahoma"/>
                        </a:rPr>
                        <a:t>Description</a:t>
                      </a:r>
                      <a:endParaRPr sz="1400">
                        <a:latin typeface="Tahoma"/>
                        <a:cs typeface="Tahoma"/>
                      </a:endParaRPr>
                    </a:p>
                  </a:txBody>
                  <a:tcPr marL="0" marR="0" marT="30480"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solidFill>
                      <a:srgbClr val="E3EBD6"/>
                    </a:solidFill>
                  </a:tcPr>
                </a:tc>
                <a:extLst>
                  <a:ext uri="{0D108BD9-81ED-4DB2-BD59-A6C34878D82A}">
                    <a16:rowId xmlns:a16="http://schemas.microsoft.com/office/drawing/2014/main" val="10000"/>
                  </a:ext>
                </a:extLst>
              </a:tr>
              <a:tr h="455676">
                <a:tc>
                  <a:txBody>
                    <a:bodyPr/>
                    <a:lstStyle/>
                    <a:p>
                      <a:pPr marL="71120">
                        <a:lnSpc>
                          <a:spcPct val="100000"/>
                        </a:lnSpc>
                        <a:spcBef>
                          <a:spcPts val="1065"/>
                        </a:spcBef>
                      </a:pPr>
                      <a:r>
                        <a:rPr lang="en-IN" sz="1400" b="0" spc="-85">
                          <a:latin typeface="Times New Roman"/>
                          <a:cs typeface="Times New Roman"/>
                        </a:rPr>
                        <a:t>Literature</a:t>
                      </a:r>
                      <a:r>
                        <a:rPr lang="en-IN" sz="1400" b="0" spc="-10">
                          <a:latin typeface="Times New Roman"/>
                          <a:cs typeface="Times New Roman"/>
                        </a:rPr>
                        <a:t> Review</a:t>
                      </a:r>
                      <a:endParaRPr lang="en-IN" sz="1400" b="0">
                        <a:latin typeface="Times New Roman"/>
                        <a:cs typeface="Times New Roman"/>
                      </a:endParaRPr>
                    </a:p>
                  </a:txBody>
                  <a:tcPr marL="0" marR="0" marT="135255"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tcPr>
                </a:tc>
                <a:extLst>
                  <a:ext uri="{0D108BD9-81ED-4DB2-BD59-A6C34878D82A}">
                    <a16:rowId xmlns:a16="http://schemas.microsoft.com/office/drawing/2014/main" val="10001"/>
                  </a:ext>
                </a:extLst>
              </a:tr>
              <a:tr h="846509">
                <a:tc>
                  <a:txBody>
                    <a:bodyPr/>
                    <a:lstStyle/>
                    <a:p>
                      <a:pPr>
                        <a:lnSpc>
                          <a:spcPct val="100000"/>
                        </a:lnSpc>
                        <a:spcBef>
                          <a:spcPts val="1115"/>
                        </a:spcBef>
                      </a:pPr>
                      <a:endParaRPr lang="en-US" sz="1400" b="0">
                        <a:latin typeface="Times New Roman"/>
                        <a:cs typeface="Times New Roman"/>
                      </a:endParaRPr>
                    </a:p>
                    <a:p>
                      <a:pPr marL="71120">
                        <a:lnSpc>
                          <a:spcPct val="100000"/>
                        </a:lnSpc>
                        <a:spcBef>
                          <a:spcPts val="5"/>
                        </a:spcBef>
                      </a:pPr>
                      <a:r>
                        <a:rPr lang="en-US" sz="1400" b="0" spc="-75">
                          <a:latin typeface="Times New Roman"/>
                          <a:cs typeface="Times New Roman"/>
                        </a:rPr>
                        <a:t>System</a:t>
                      </a:r>
                      <a:r>
                        <a:rPr lang="en-US" sz="1400" b="0" spc="10">
                          <a:latin typeface="Times New Roman"/>
                          <a:cs typeface="Times New Roman"/>
                        </a:rPr>
                        <a:t> </a:t>
                      </a:r>
                      <a:r>
                        <a:rPr lang="en-US" sz="1400" b="0" spc="-10">
                          <a:latin typeface="Times New Roman"/>
                          <a:cs typeface="Times New Roman"/>
                        </a:rPr>
                        <a:t>Design</a:t>
                      </a:r>
                      <a:endParaRPr lang="en-US" sz="1400" b="0">
                        <a:latin typeface="Times New Roman"/>
                        <a:cs typeface="Times New Roman"/>
                      </a:endParaRPr>
                    </a:p>
                  </a:txBody>
                  <a:tcPr marL="0" marR="0" marT="141605"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tcPr>
                </a:tc>
                <a:tc>
                  <a:txBody>
                    <a:bodyPr/>
                    <a:lstStyle/>
                    <a:p>
                      <a:pPr>
                        <a:lnSpc>
                          <a:spcPct val="100000"/>
                        </a:lnSpc>
                      </a:pPr>
                      <a:r>
                        <a:rPr lang="en-US" sz="1400" b="0">
                          <a:solidFill>
                            <a:schemeClr val="tx1"/>
                          </a:solidFill>
                          <a:latin typeface="Times New Roman"/>
                          <a:cs typeface="Times New Roman"/>
                        </a:rPr>
                        <a:t>Solar DC–AC source for variations. Measure/Rx coil design for ship decks and floating docks. Resonance compensation via S–S or S–P networks.</a:t>
                      </a:r>
                      <a:r>
                        <a:rPr lang="en-US" sz="1400" b="1">
                          <a:solidFill>
                            <a:schemeClr val="tx1"/>
                          </a:solidFill>
                          <a:latin typeface="Times New Roman"/>
                          <a:cs typeface="Times New Roman"/>
                        </a:rPr>
                        <a:t> </a:t>
                      </a:r>
                      <a:r>
                        <a:rPr lang="en-US" sz="1400" b="0">
                          <a:solidFill>
                            <a:schemeClr val="tx1"/>
                          </a:solidFill>
                          <a:latin typeface="Times New Roman"/>
                          <a:cs typeface="Times New Roman"/>
                        </a:rPr>
                        <a:t>Safety features: temperature, overcurrent, and foreign object detection</a:t>
                      </a:r>
                      <a:endParaRPr sz="1400" b="0">
                        <a:latin typeface="Times New Roman"/>
                        <a:cs typeface="Times New Roman"/>
                      </a:endParaRPr>
                    </a:p>
                  </a:txBody>
                  <a:tcPr marL="0" marR="0" marT="0"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tcPr>
                </a:tc>
                <a:extLst>
                  <a:ext uri="{0D108BD9-81ED-4DB2-BD59-A6C34878D82A}">
                    <a16:rowId xmlns:a16="http://schemas.microsoft.com/office/drawing/2014/main" val="10002"/>
                  </a:ext>
                </a:extLst>
              </a:tr>
              <a:tr h="1023661">
                <a:tc>
                  <a:txBody>
                    <a:bodyPr/>
                    <a:lstStyle/>
                    <a:p>
                      <a:pPr>
                        <a:lnSpc>
                          <a:spcPct val="100000"/>
                        </a:lnSpc>
                        <a:spcBef>
                          <a:spcPts val="295"/>
                        </a:spcBef>
                      </a:pPr>
                      <a:endParaRPr sz="1400">
                        <a:latin typeface="Times New Roman"/>
                        <a:cs typeface="Times New Roman"/>
                      </a:endParaRPr>
                    </a:p>
                    <a:p>
                      <a:pPr marL="71120">
                        <a:lnSpc>
                          <a:spcPct val="100000"/>
                        </a:lnSpc>
                      </a:pPr>
                      <a:r>
                        <a:rPr sz="1400" b="0" spc="-50">
                          <a:latin typeface="Times New Roman"/>
                          <a:cs typeface="Times New Roman"/>
                        </a:rPr>
                        <a:t>Algorithm </a:t>
                      </a:r>
                      <a:r>
                        <a:rPr sz="1400" b="0" spc="-10">
                          <a:latin typeface="Times New Roman"/>
                          <a:cs typeface="Times New Roman"/>
                        </a:rPr>
                        <a:t>Development</a:t>
                      </a:r>
                      <a:endParaRPr sz="1400" b="0">
                        <a:latin typeface="Times New Roman"/>
                        <a:cs typeface="Times New Roman"/>
                      </a:endParaRPr>
                    </a:p>
                  </a:txBody>
                  <a:tcPr marL="0" marR="0" marT="37465"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400" b="0">
                          <a:solidFill>
                            <a:schemeClr val="tx1"/>
                          </a:solidFill>
                          <a:latin typeface="Times New Roman"/>
                          <a:cs typeface="Times New Roman"/>
                        </a:rPr>
                        <a:t>Create control algorithm to maintain voltage and frequency stability. Implement alignment and load compensation algorithms for varying ship positions. Develop monitoring logic for efficiency, coil misalignment, and thermal management</a:t>
                      </a:r>
                      <a:r>
                        <a:rPr lang="en-IN" sz="1400" b="0">
                          <a:latin typeface="Times New Roman"/>
                          <a:cs typeface="Times New Roman"/>
                        </a:rPr>
                        <a:t>.</a:t>
                      </a:r>
                    </a:p>
                    <a:p>
                      <a:pPr>
                        <a:lnSpc>
                          <a:spcPct val="100000"/>
                        </a:lnSpc>
                      </a:pPr>
                      <a:endParaRPr sz="1400">
                        <a:latin typeface="Times New Roman" panose="02020603050405020304" pitchFamily="18" charset="0"/>
                        <a:cs typeface="Times New Roman" panose="02020603050405020304" pitchFamily="18" charset="0"/>
                      </a:endParaRPr>
                    </a:p>
                  </a:txBody>
                  <a:tcPr marL="0" marR="0" marT="0"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tcPr>
                </a:tc>
                <a:extLst>
                  <a:ext uri="{0D108BD9-81ED-4DB2-BD59-A6C34878D82A}">
                    <a16:rowId xmlns:a16="http://schemas.microsoft.com/office/drawing/2014/main" val="10003"/>
                  </a:ext>
                </a:extLst>
              </a:tr>
              <a:tr h="1023661">
                <a:tc>
                  <a:txBody>
                    <a:bodyPr/>
                    <a:lstStyle/>
                    <a:p>
                      <a:pPr>
                        <a:lnSpc>
                          <a:spcPct val="100000"/>
                        </a:lnSpc>
                        <a:spcBef>
                          <a:spcPts val="1135"/>
                        </a:spcBef>
                      </a:pPr>
                      <a:endParaRPr sz="1400">
                        <a:latin typeface="Times New Roman"/>
                        <a:cs typeface="Times New Roman"/>
                      </a:endParaRPr>
                    </a:p>
                    <a:p>
                      <a:pPr marL="71120">
                        <a:lnSpc>
                          <a:spcPct val="100000"/>
                        </a:lnSpc>
                      </a:pPr>
                      <a:r>
                        <a:rPr sz="1400" b="0" spc="-65">
                          <a:latin typeface="Times New Roman"/>
                          <a:cs typeface="Times New Roman"/>
                        </a:rPr>
                        <a:t>Simulation</a:t>
                      </a:r>
                      <a:r>
                        <a:rPr sz="1400" b="0" spc="-40">
                          <a:latin typeface="Times New Roman"/>
                          <a:cs typeface="Times New Roman"/>
                        </a:rPr>
                        <a:t> </a:t>
                      </a:r>
                      <a:r>
                        <a:rPr sz="1400" b="0" spc="-140">
                          <a:latin typeface="Times New Roman"/>
                          <a:cs typeface="Times New Roman"/>
                        </a:rPr>
                        <a:t>&amp;</a:t>
                      </a:r>
                      <a:r>
                        <a:rPr sz="1400" b="0" spc="-35">
                          <a:latin typeface="Times New Roman"/>
                          <a:cs typeface="Times New Roman"/>
                        </a:rPr>
                        <a:t> </a:t>
                      </a:r>
                      <a:r>
                        <a:rPr sz="1400" b="0" spc="-10">
                          <a:latin typeface="Times New Roman"/>
                          <a:cs typeface="Times New Roman"/>
                        </a:rPr>
                        <a:t>Testing</a:t>
                      </a:r>
                      <a:endParaRPr sz="1400" b="0">
                        <a:latin typeface="Times New Roman"/>
                        <a:cs typeface="Times New Roman"/>
                      </a:endParaRPr>
                    </a:p>
                  </a:txBody>
                  <a:tcPr marL="0" marR="0" marT="144145"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a:solidFill>
                            <a:schemeClr val="tx1"/>
                          </a:solidFill>
                          <a:latin typeface="Times New Roman"/>
                          <a:cs typeface="Times New Roman"/>
                        </a:rPr>
                        <a:t>Simulate system using MATLAB/Simulink or equivalent positions. Develop power transfer efficiency, resonance tuning, and effect of misalignment/air-gap. Optimize coil design and control parameters before prototype development</a:t>
                      </a:r>
                      <a:r>
                        <a:rPr lang="en-US" sz="1400" b="0">
                          <a:latin typeface="Times New Roman"/>
                          <a:cs typeface="Times New Roman"/>
                        </a:rPr>
                        <a:t>.</a:t>
                      </a:r>
                    </a:p>
                    <a:p>
                      <a:pPr>
                        <a:lnSpc>
                          <a:spcPct val="100000"/>
                        </a:lnSpc>
                      </a:pPr>
                      <a:endParaRPr sz="1400">
                        <a:latin typeface="Times New Roman" panose="02020603050405020304" pitchFamily="18" charset="0"/>
                        <a:cs typeface="Times New Roman" panose="02020603050405020304" pitchFamily="18" charset="0"/>
                      </a:endParaRPr>
                    </a:p>
                  </a:txBody>
                  <a:tcPr marL="0" marR="0" marT="0"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tcPr>
                </a:tc>
                <a:extLst>
                  <a:ext uri="{0D108BD9-81ED-4DB2-BD59-A6C34878D82A}">
                    <a16:rowId xmlns:a16="http://schemas.microsoft.com/office/drawing/2014/main" val="10004"/>
                  </a:ext>
                </a:extLst>
              </a:tr>
              <a:tr h="845919">
                <a:tc>
                  <a:txBody>
                    <a:bodyPr/>
                    <a:lstStyle/>
                    <a:p>
                      <a:pPr>
                        <a:lnSpc>
                          <a:spcPct val="100000"/>
                        </a:lnSpc>
                        <a:spcBef>
                          <a:spcPts val="1145"/>
                        </a:spcBef>
                      </a:pPr>
                      <a:endParaRPr sz="1400">
                        <a:latin typeface="Times New Roman"/>
                        <a:cs typeface="Times New Roman"/>
                      </a:endParaRPr>
                    </a:p>
                    <a:p>
                      <a:pPr marL="71120">
                        <a:lnSpc>
                          <a:spcPct val="100000"/>
                        </a:lnSpc>
                      </a:pPr>
                      <a:r>
                        <a:rPr sz="1400" b="0" spc="-60">
                          <a:latin typeface="Times New Roman"/>
                          <a:cs typeface="Times New Roman"/>
                        </a:rPr>
                        <a:t>Prototype</a:t>
                      </a:r>
                      <a:r>
                        <a:rPr sz="1400" b="0" spc="30">
                          <a:latin typeface="Times New Roman"/>
                          <a:cs typeface="Times New Roman"/>
                        </a:rPr>
                        <a:t> </a:t>
                      </a:r>
                      <a:r>
                        <a:rPr sz="1400" b="0" spc="-10">
                          <a:latin typeface="Times New Roman"/>
                          <a:cs typeface="Times New Roman"/>
                        </a:rPr>
                        <a:t>Development</a:t>
                      </a:r>
                      <a:endParaRPr sz="1400" b="0">
                        <a:latin typeface="Times New Roman"/>
                        <a:cs typeface="Times New Roman"/>
                      </a:endParaRPr>
                    </a:p>
                  </a:txBody>
                  <a:tcPr marL="0" marR="0" marT="145415"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tcPr>
                </a:tc>
                <a:tc>
                  <a:txBody>
                    <a:bodyPr/>
                    <a:lstStyle/>
                    <a:p>
                      <a:pPr>
                        <a:lnSpc>
                          <a:spcPct val="100000"/>
                        </a:lnSpc>
                      </a:pPr>
                      <a:r>
                        <a:rPr lang="en-IN" sz="1400" b="0">
                          <a:solidFill>
                            <a:schemeClr val="tx1"/>
                          </a:solidFill>
                          <a:latin typeface="Times New Roman"/>
                          <a:cs typeface="Times New Roman"/>
                        </a:rPr>
                        <a:t>Build scaled WPT prototype with Tx-Rx coils and solar power source. Test under different air-gap distances, alignment conditions, and load variations. Measure output power, efficiency, thermal performance, and reliability</a:t>
                      </a:r>
                      <a:endParaRPr sz="1400" b="0">
                        <a:latin typeface="Times New Roman"/>
                        <a:cs typeface="Times New Roman"/>
                      </a:endParaRPr>
                    </a:p>
                  </a:txBody>
                  <a:tcPr marL="0" marR="0" marT="0"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tcPr>
                </a:tc>
                <a:extLst>
                  <a:ext uri="{0D108BD9-81ED-4DB2-BD59-A6C34878D82A}">
                    <a16:rowId xmlns:a16="http://schemas.microsoft.com/office/drawing/2014/main" val="10005"/>
                  </a:ext>
                </a:extLst>
              </a:tr>
              <a:tr h="650797">
                <a:tc>
                  <a:txBody>
                    <a:bodyPr/>
                    <a:lstStyle/>
                    <a:p>
                      <a:pPr>
                        <a:lnSpc>
                          <a:spcPct val="100000"/>
                        </a:lnSpc>
                        <a:spcBef>
                          <a:spcPts val="325"/>
                        </a:spcBef>
                      </a:pPr>
                      <a:endParaRPr sz="1400" b="1">
                        <a:latin typeface="Times New Roman"/>
                        <a:cs typeface="Times New Roman"/>
                      </a:endParaRPr>
                    </a:p>
                    <a:p>
                      <a:pPr marL="71120">
                        <a:lnSpc>
                          <a:spcPct val="100000"/>
                        </a:lnSpc>
                      </a:pPr>
                      <a:r>
                        <a:rPr sz="1400" b="0" spc="-100">
                          <a:latin typeface="Times New Roman"/>
                          <a:cs typeface="Times New Roman"/>
                        </a:rPr>
                        <a:t>Result</a:t>
                      </a:r>
                      <a:r>
                        <a:rPr sz="1400" b="0" spc="-15">
                          <a:latin typeface="Times New Roman"/>
                          <a:cs typeface="Times New Roman"/>
                        </a:rPr>
                        <a:t> </a:t>
                      </a:r>
                      <a:r>
                        <a:rPr sz="1400" b="0" spc="-10">
                          <a:latin typeface="Times New Roman"/>
                          <a:cs typeface="Times New Roman"/>
                        </a:rPr>
                        <a:t>Analysis</a:t>
                      </a:r>
                      <a:endParaRPr sz="1400" b="0">
                        <a:latin typeface="Times New Roman"/>
                        <a:cs typeface="Times New Roman"/>
                      </a:endParaRPr>
                    </a:p>
                  </a:txBody>
                  <a:tcPr marL="0" marR="0" marT="41275"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a:solidFill>
                            <a:schemeClr val="tx1"/>
                          </a:solidFill>
                          <a:latin typeface="Times New Roman"/>
                          <a:cs typeface="Times New Roman"/>
                        </a:rPr>
                        <a:t>Compare experimental results with simulation for validation and optimization.</a:t>
                      </a:r>
                    </a:p>
                    <a:p>
                      <a:pPr>
                        <a:lnSpc>
                          <a:spcPct val="100000"/>
                        </a:lnSpc>
                      </a:pPr>
                      <a:endParaRPr sz="1400">
                        <a:latin typeface="Times New Roman" panose="02020603050405020304" pitchFamily="18" charset="0"/>
                        <a:cs typeface="Times New Roman" panose="02020603050405020304" pitchFamily="18" charset="0"/>
                      </a:endParaRPr>
                    </a:p>
                  </a:txBody>
                  <a:tcPr marL="0" marR="0" marT="0" marB="0">
                    <a:lnL w="12700">
                      <a:solidFill>
                        <a:srgbClr val="C2AC8D"/>
                      </a:solidFill>
                      <a:prstDash val="solid"/>
                    </a:lnL>
                    <a:lnR w="12700">
                      <a:solidFill>
                        <a:srgbClr val="C2AC8D"/>
                      </a:solidFill>
                      <a:prstDash val="solid"/>
                    </a:lnR>
                    <a:lnT w="12700">
                      <a:solidFill>
                        <a:srgbClr val="C2AC8D"/>
                      </a:solidFill>
                      <a:prstDash val="solid"/>
                    </a:lnT>
                    <a:lnB w="12700">
                      <a:solidFill>
                        <a:srgbClr val="C2AC8D"/>
                      </a:solidFill>
                      <a:prstDash val="soli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u="sng" spc="80" dirty="0">
                <a:latin typeface="Times New Roman" panose="02020603050405020304" pitchFamily="18" charset="0"/>
                <a:cs typeface="Times New Roman" panose="02020603050405020304" pitchFamily="18" charset="0"/>
              </a:rPr>
              <a:t>Work</a:t>
            </a:r>
            <a:r>
              <a:rPr u="sng" spc="60" dirty="0">
                <a:latin typeface="Times New Roman" panose="02020603050405020304" pitchFamily="18" charset="0"/>
                <a:cs typeface="Times New Roman" panose="02020603050405020304" pitchFamily="18" charset="0"/>
              </a:rPr>
              <a:t> </a:t>
            </a:r>
            <a:r>
              <a:rPr u="sng" spc="105" dirty="0">
                <a:latin typeface="Times New Roman" panose="02020603050405020304" pitchFamily="18" charset="0"/>
                <a:cs typeface="Times New Roman" panose="02020603050405020304" pitchFamily="18" charset="0"/>
              </a:rPr>
              <a:t>Done</a:t>
            </a:r>
            <a:r>
              <a:rPr u="sng" spc="150" dirty="0">
                <a:latin typeface="Times New Roman" panose="02020603050405020304" pitchFamily="18" charset="0"/>
                <a:cs typeface="Times New Roman" panose="02020603050405020304" pitchFamily="18" charset="0"/>
              </a:rPr>
              <a:t> </a:t>
            </a:r>
            <a:r>
              <a:rPr u="sng" spc="50" dirty="0">
                <a:latin typeface="Times New Roman" panose="02020603050405020304" pitchFamily="18" charset="0"/>
                <a:cs typeface="Times New Roman" panose="02020603050405020304" pitchFamily="18" charset="0"/>
              </a:rPr>
              <a:t>So</a:t>
            </a:r>
            <a:r>
              <a:rPr u="sng" spc="85" dirty="0">
                <a:latin typeface="Times New Roman" panose="02020603050405020304" pitchFamily="18" charset="0"/>
                <a:cs typeface="Times New Roman" panose="02020603050405020304" pitchFamily="18" charset="0"/>
              </a:rPr>
              <a:t> </a:t>
            </a:r>
            <a:r>
              <a:rPr u="sng" spc="-25" dirty="0">
                <a:latin typeface="Times New Roman" panose="02020603050405020304" pitchFamily="18" charset="0"/>
                <a:cs typeface="Times New Roman" panose="02020603050405020304" pitchFamily="18" charset="0"/>
              </a:rPr>
              <a:t>Far</a:t>
            </a:r>
          </a:p>
        </p:txBody>
      </p:sp>
      <p:sp>
        <p:nvSpPr>
          <p:cNvPr id="3" name="object 3"/>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8</a:t>
            </a:fld>
            <a:endParaRPr spc="-25" dirty="0"/>
          </a:p>
        </p:txBody>
      </p:sp>
      <p:sp>
        <p:nvSpPr>
          <p:cNvPr id="5" name="object 5"/>
          <p:cNvSpPr txBox="1">
            <a:spLocks noGrp="1"/>
          </p:cNvSpPr>
          <p:nvPr>
            <p:ph type="dt" sz="half" idx="6"/>
          </p:nvPr>
        </p:nvSpPr>
        <p:spPr>
          <a:prstGeom prst="rect">
            <a:avLst/>
          </a:prstGeom>
        </p:spPr>
        <p:txBody>
          <a:bodyPr vert="horz" wrap="square" lIns="0" tIns="73669" rIns="0" bIns="0" rtlCol="0">
            <a:spAutoFit/>
          </a:bodyPr>
          <a:lstStyle/>
          <a:p>
            <a:pPr marL="430530">
              <a:lnSpc>
                <a:spcPct val="100000"/>
              </a:lnSpc>
              <a:spcBef>
                <a:spcPts val="85"/>
              </a:spcBef>
            </a:pPr>
            <a:r>
              <a:rPr spc="95" dirty="0"/>
              <a:t>Department</a:t>
            </a:r>
            <a:r>
              <a:rPr spc="-85" dirty="0"/>
              <a:t> </a:t>
            </a:r>
            <a:r>
              <a:rPr spc="60" dirty="0"/>
              <a:t>of</a:t>
            </a:r>
            <a:r>
              <a:rPr spc="-40" dirty="0"/>
              <a:t> </a:t>
            </a:r>
            <a:r>
              <a:rPr spc="-25" dirty="0"/>
              <a:t>EEE</a:t>
            </a:r>
          </a:p>
        </p:txBody>
      </p:sp>
      <p:sp>
        <p:nvSpPr>
          <p:cNvPr id="6" name="TextBox 5">
            <a:extLst>
              <a:ext uri="{FF2B5EF4-FFF2-40B4-BE49-F238E27FC236}">
                <a16:creationId xmlns:a16="http://schemas.microsoft.com/office/drawing/2014/main" id="{E078817D-45C2-8FAE-0846-76EF934191AA}"/>
              </a:ext>
            </a:extLst>
          </p:cNvPr>
          <p:cNvSpPr txBox="1"/>
          <p:nvPr/>
        </p:nvSpPr>
        <p:spPr>
          <a:xfrm>
            <a:off x="536574" y="1143000"/>
            <a:ext cx="8150225" cy="2535246"/>
          </a:xfrm>
          <a:prstGeom prst="rect">
            <a:avLst/>
          </a:prstGeom>
          <a:noFill/>
        </p:spPr>
        <p:txBody>
          <a:bodyPr wrap="square" rtlCol="0">
            <a:spAutoFit/>
          </a:bodyPr>
          <a:lstStyle/>
          <a:p>
            <a:r>
              <a:t>The Solar Wireless Power Transfer for Electric Ships project has reached approximately 90% completion. The hardware components have been successfully developed and integrated, and the coding for the system has been fully implemented. The wireless charging station has been designed and developed, and the electric boat prototype has also been successfully fabricated. Overall, the system has been implemented and is currently in the final stage of testing and validation</a:t>
            </a:r>
          </a:p>
          <a:p/>
          <a:p>
            <a:r>
              <a:t>Additionally, two ship models were developed. One ship was integrated with a WiFi-enabled ESP32 board to connect with a mobile phone. Using a transmitter and receiver setup, wireless power transfer between the two ships was successfully demonstrated.</a:t>
            </a:r>
          </a:p>
          <a:p/>
          <a:p>
            <a:r>
              <a:t>Two ship models were developed successfully. One ship was integrated with a WiFi-enabled ESP32 board to connect with a mobile phone. Real-time voltage, current, power, and charging levels can be monitored through the phone. Wireless power transfer between the ships was demonstrated using transmitter and receiver coils.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55" dirty="0"/>
              <a:t>Expected</a:t>
            </a:r>
            <a:r>
              <a:rPr spc="30" dirty="0"/>
              <a:t> </a:t>
            </a:r>
            <a:r>
              <a:rPr spc="75" dirty="0"/>
              <a:t>Outcomes</a:t>
            </a:r>
          </a:p>
        </p:txBody>
      </p:sp>
      <p:sp>
        <p:nvSpPr>
          <p:cNvPr id="3" name="object 3"/>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9</a:t>
            </a:fld>
            <a:endParaRPr spc="-25" dirty="0"/>
          </a:p>
        </p:txBody>
      </p:sp>
      <p:sp>
        <p:nvSpPr>
          <p:cNvPr id="5" name="object 5"/>
          <p:cNvSpPr txBox="1">
            <a:spLocks noGrp="1"/>
          </p:cNvSpPr>
          <p:nvPr>
            <p:ph type="dt" sz="half" idx="6"/>
          </p:nvPr>
        </p:nvSpPr>
        <p:spPr>
          <a:prstGeom prst="rect">
            <a:avLst/>
          </a:prstGeom>
        </p:spPr>
        <p:txBody>
          <a:bodyPr vert="horz" wrap="square" lIns="0" tIns="73669" rIns="0" bIns="0" rtlCol="0">
            <a:spAutoFit/>
          </a:bodyPr>
          <a:lstStyle/>
          <a:p>
            <a:pPr marL="430530">
              <a:lnSpc>
                <a:spcPct val="100000"/>
              </a:lnSpc>
              <a:spcBef>
                <a:spcPts val="85"/>
              </a:spcBef>
            </a:pPr>
            <a:r>
              <a:rPr spc="95" dirty="0"/>
              <a:t>Department</a:t>
            </a:r>
            <a:r>
              <a:rPr spc="-85" dirty="0"/>
              <a:t> </a:t>
            </a:r>
            <a:r>
              <a:rPr spc="60" dirty="0"/>
              <a:t>of</a:t>
            </a:r>
            <a:r>
              <a:rPr spc="-40" dirty="0"/>
              <a:t> </a:t>
            </a:r>
            <a:r>
              <a:rPr spc="-25" dirty="0"/>
              <a:t>EEE</a:t>
            </a:r>
          </a:p>
        </p:txBody>
      </p:sp>
      <p:sp>
        <p:nvSpPr>
          <p:cNvPr id="6" name="TextBox 5">
            <a:extLst>
              <a:ext uri="{FF2B5EF4-FFF2-40B4-BE49-F238E27FC236}">
                <a16:creationId xmlns:a16="http://schemas.microsoft.com/office/drawing/2014/main" id="{0CDA6EDC-5D67-5DC8-30D9-B9D0F9889809}"/>
              </a:ext>
            </a:extLst>
          </p:cNvPr>
          <p:cNvSpPr txBox="1"/>
          <p:nvPr/>
        </p:nvSpPr>
        <p:spPr>
          <a:xfrm>
            <a:off x="-6705" y="1087119"/>
            <a:ext cx="9042854" cy="5115311"/>
          </a:xfrm>
          <a:prstGeom prst="rect">
            <a:avLst/>
          </a:prstGeom>
          <a:noFill/>
        </p:spPr>
        <p:txBody>
          <a:bodyPr wrap="square" lIns="91440" tIns="45720" rIns="91440" bIns="45720" rtlCol="0" anchor="t">
            <a:spAutoFit/>
          </a:bodyPr>
          <a:lstStyle/>
          <a:p>
            <a:r>
              <a:t>The expected outcome of this project is to demonstrate a solar-based wireless power transfer system for charging an electric boat. When the boat comes near the transmitting coil at the charging station, power is transferred wirelessly to the receiving coil in the boat, initiating the charging process. </a:t>
            </a:r>
          </a:p>
          <a:p>
            <a:r>
              <a:t>The charging efficiency increases when the transmitting and receiving coils are properly aligned or placed very close to each other. During power transfer, the system displays the voltage, current, and power values on the display module, allowing real-time monitoring of the charging process.</a:t>
            </a:r>
          </a:p>
          <a:p>
            <a:r>
              <a:t> The project develops a functional prototype consisting of a solar-powered charging station and an electric boat model, demonstrating a safe, contactless, and eco-friendly charging method suitable for marine applications.</a:t>
            </a:r>
          </a:p>
          <a:p/>
          <a:p>
            <a:r>
              <a:t>The system is expected to support three charging modes:</a:t>
            </a:r>
          </a:p>
          <a:p>
            <a:r>
              <a:t>1. Wireless charging from the solar-powered charging station.</a:t>
            </a:r>
          </a:p>
          <a:p>
            <a:r>
              <a:t>2. Direct charging using solar panels mounted on the ship.</a:t>
            </a:r>
          </a:p>
          <a:p>
            <a:r>
              <a:t>3. Backup charging using a hydrogen fuel cell.</a:t>
            </a:r>
          </a:p>
          <a:p/>
          <a:p>
            <a:r>
              <a:t>The system also enables real-time mobile monitoring through ESP32 WiFi communication.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702B83-4430-4E89-649E-1324A5927392}"/>
              </a:ext>
            </a:extLst>
          </p:cNvPr>
          <p:cNvPicPr>
            <a:picLocks noChangeAspect="1"/>
          </p:cNvPicPr>
          <p:nvPr/>
        </p:nvPicPr>
        <p:blipFill>
          <a:blip r:embed="rId2"/>
          <a:stretch>
            <a:fillRect/>
          </a:stretch>
        </p:blipFill>
        <p:spPr>
          <a:xfrm>
            <a:off x="380320" y="183016"/>
            <a:ext cx="8382000" cy="5984044"/>
          </a:xfrm>
          <a:prstGeom prst="rect">
            <a:avLst/>
          </a:prstGeom>
        </p:spPr>
      </p:pic>
      <p:sp>
        <p:nvSpPr>
          <p:cNvPr id="3" name="TextBox 2">
            <a:extLst>
              <a:ext uri="{FF2B5EF4-FFF2-40B4-BE49-F238E27FC236}">
                <a16:creationId xmlns:a16="http://schemas.microsoft.com/office/drawing/2014/main" id="{08917BB0-0D65-F141-871D-39141CFF4F24}"/>
              </a:ext>
            </a:extLst>
          </p:cNvPr>
          <p:cNvSpPr txBox="1"/>
          <p:nvPr/>
        </p:nvSpPr>
        <p:spPr>
          <a:xfrm>
            <a:off x="7772400" y="6488668"/>
            <a:ext cx="4572000" cy="369332"/>
          </a:xfrm>
          <a:prstGeom prst="rect">
            <a:avLst/>
          </a:prstGeom>
          <a:noFill/>
        </p:spPr>
        <p:txBody>
          <a:bodyPr wrap="square">
            <a:spAutoFit/>
          </a:bodyPr>
          <a:lstStyle/>
          <a:p>
            <a:r>
              <a:rPr lang="en-IN" dirty="0"/>
              <a:t>31/01/2026</a:t>
            </a:r>
          </a:p>
        </p:txBody>
      </p:sp>
      <p:sp>
        <p:nvSpPr>
          <p:cNvPr id="5" name="Slide Number Placeholder 4">
            <a:extLst>
              <a:ext uri="{FF2B5EF4-FFF2-40B4-BE49-F238E27FC236}">
                <a16:creationId xmlns:a16="http://schemas.microsoft.com/office/drawing/2014/main" id="{0745E99E-E9E3-0692-7A2F-21499B9385C0}"/>
              </a:ext>
            </a:extLst>
          </p:cNvPr>
          <p:cNvSpPr>
            <a:spLocks noGrp="1"/>
          </p:cNvSpPr>
          <p:nvPr>
            <p:ph type="sldNum" sz="quarter" idx="7"/>
          </p:nvPr>
        </p:nvSpPr>
        <p:spPr/>
        <p:txBody>
          <a:bodyPr/>
          <a:lstStyle/>
          <a:p>
            <a:fld id="{81D60167-4931-47E6-BA6A-407CBD079E47}" type="slidenum">
              <a:rPr lang="en-US" spc="-50" dirty="0"/>
              <a:t>10</a:t>
            </a:fld>
            <a:endParaRPr lang="en-US"/>
          </a:p>
        </p:txBody>
      </p:sp>
    </p:spTree>
    <p:extLst>
      <p:ext uri="{BB962C8B-B14F-4D97-AF65-F5344CB8AC3E}">
        <p14:creationId xmlns:p14="http://schemas.microsoft.com/office/powerpoint/2010/main" val="767950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1F4C2F-9CD3-8D71-58AA-14D75D4A6A9E}"/>
              </a:ext>
            </a:extLst>
          </p:cNvPr>
          <p:cNvSpPr txBox="1"/>
          <p:nvPr/>
        </p:nvSpPr>
        <p:spPr>
          <a:xfrm>
            <a:off x="1371600" y="609600"/>
            <a:ext cx="3048000" cy="538609"/>
          </a:xfrm>
          <a:prstGeom prst="rect">
            <a:avLst/>
          </a:prstGeom>
          <a:noFill/>
        </p:spPr>
        <p:txBody>
          <a:bodyPr wrap="square" rtlCol="0">
            <a:spAutoFit/>
          </a:bodyPr>
          <a:lstStyle/>
          <a:p>
            <a:r>
              <a:rPr lang="en-US" sz="2900" dirty="0">
                <a:latin typeface="Times New Roman" panose="02020603050405020304" pitchFamily="18" charset="0"/>
                <a:ea typeface="Cambria" panose="02040503050406030204" pitchFamily="18" charset="0"/>
                <a:cs typeface="Times New Roman" panose="02020603050405020304" pitchFamily="18" charset="0"/>
              </a:rPr>
              <a:t>MPPT </a:t>
            </a:r>
            <a:endParaRPr lang="en-IN" sz="2900"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5B60DB2-919F-D895-6799-04B0705FFE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255" y="1295400"/>
            <a:ext cx="8437418" cy="4800600"/>
          </a:xfrm>
          <a:prstGeom prst="rect">
            <a:avLst/>
          </a:prstGeom>
        </p:spPr>
      </p:pic>
      <p:sp>
        <p:nvSpPr>
          <p:cNvPr id="5" name="Slide Number Placeholder 4">
            <a:extLst>
              <a:ext uri="{FF2B5EF4-FFF2-40B4-BE49-F238E27FC236}">
                <a16:creationId xmlns:a16="http://schemas.microsoft.com/office/drawing/2014/main" id="{E84C5B11-2E78-C098-DB3C-EAA746A7B4BC}"/>
              </a:ext>
            </a:extLst>
          </p:cNvPr>
          <p:cNvSpPr>
            <a:spLocks noGrp="1"/>
          </p:cNvSpPr>
          <p:nvPr>
            <p:ph type="sldNum" sz="quarter" idx="7"/>
          </p:nvPr>
        </p:nvSpPr>
        <p:spPr/>
        <p:txBody>
          <a:bodyPr/>
          <a:lstStyle/>
          <a:p>
            <a:fld id="{81D60167-4931-47E6-BA6A-407CBD079E47}" type="slidenum">
              <a:rPr lang="en-US" spc="-50" dirty="0"/>
              <a:t>11</a:t>
            </a:fld>
            <a:endParaRPr lang="en-US"/>
          </a:p>
        </p:txBody>
      </p:sp>
    </p:spTree>
    <p:extLst>
      <p:ext uri="{BB962C8B-B14F-4D97-AF65-F5344CB8AC3E}">
        <p14:creationId xmlns:p14="http://schemas.microsoft.com/office/powerpoint/2010/main" val="1329956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8ACDF-0B5E-4974-5D41-53C85A05541D}"/>
              </a:ext>
            </a:extLst>
          </p:cNvPr>
          <p:cNvSpPr>
            <a:spLocks noGrp="1"/>
          </p:cNvSpPr>
          <p:nvPr>
            <p:ph type="title"/>
          </p:nvPr>
        </p:nvSpPr>
        <p:spPr>
          <a:xfrm>
            <a:off x="536575" y="568960"/>
            <a:ext cx="4244340" cy="446276"/>
          </a:xfrm>
        </p:spPr>
        <p:txBody>
          <a:bodyPr/>
          <a:lstStyle/>
          <a:p>
            <a:r>
              <a:rPr lang="en-US" sz="2900" dirty="0">
                <a:latin typeface="Times New Roman" panose="02020603050405020304" pitchFamily="18" charset="0"/>
                <a:cs typeface="Times New Roman" panose="02020603050405020304" pitchFamily="18" charset="0"/>
              </a:rPr>
              <a:t>Components required</a:t>
            </a:r>
            <a:endParaRPr lang="en-IN" sz="29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98351CB-780D-1432-D261-08D2202C5E4E}"/>
              </a:ext>
            </a:extLst>
          </p:cNvPr>
          <p:cNvSpPr>
            <a:spLocks noGrp="1"/>
          </p:cNvSpPr>
          <p:nvPr>
            <p:ph type="body" idx="1"/>
          </p:nvPr>
        </p:nvSpPr>
        <p:spPr>
          <a:xfrm>
            <a:off x="536575" y="1219200"/>
            <a:ext cx="8150225" cy="4105226"/>
          </a:xfrm>
        </p:spPr>
        <p:txBody>
          <a:bodyPr wrap="square" lIns="0" tIns="0" rIns="0" bIns="0" anchor="t">
            <a:spAutoFit/>
          </a:bodyPr>
          <a:lstStyle/>
          <a:p>
            <a:pPr marL="342900" indent="-342900" algn="just">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12V Li-ion Battery Stores electrical energy and provides a stable 12V DC supply to power the system . It is rechargeable and commonly used for portable and renewable energy projects.</a:t>
            </a:r>
            <a:endParaRPr lang="en-US" dirty="0"/>
          </a:p>
          <a:p>
            <a:pPr marL="342900" indent="-342900" algn="just">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Solar Panels (2 Nos.)Convert sunlight into electrical energy using photovoltaic cells .     They are used to charge the battery and power the circuit in an eco-friendly way.</a:t>
            </a:r>
          </a:p>
          <a:p>
            <a:pPr marL="342900" indent="-342900" algn="just">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Wireless Charging Coil Set (Transmitter &amp; Receiver)Transfers power wirelessly through electromagnetic induction without physical contact .It is used to charge devices safely and conveniently over short distances.	</a:t>
            </a:r>
          </a:p>
          <a:p>
            <a:pPr marL="342900" indent="-342900" algn="just">
              <a:lnSpc>
                <a:spcPct val="150000"/>
              </a:lnSpc>
              <a:buFont typeface="Wingdings" panose="05000000000000000000" pitchFamily="2" charset="2"/>
              <a:buChar char="q"/>
            </a:pPr>
            <a:r>
              <a:rPr lang="en-US" dirty="0">
                <a:latin typeface="Times New Roman"/>
                <a:cs typeface="Times New Roman"/>
              </a:rPr>
              <a:t>Toy Ship Acts as the base or body of the project for demonstration purposes . It helps in   practical implementation and visualization of the system.</a:t>
            </a:r>
            <a:endParaRPr lang="en-IN" dirty="0">
              <a:latin typeface="Times New Roman"/>
              <a:cs typeface="Times New Roman"/>
            </a:endParaRPr>
          </a:p>
        </p:txBody>
      </p:sp>
      <p:sp>
        <p:nvSpPr>
          <p:cNvPr id="5" name="Slide Number Placeholder 4">
            <a:extLst>
              <a:ext uri="{FF2B5EF4-FFF2-40B4-BE49-F238E27FC236}">
                <a16:creationId xmlns:a16="http://schemas.microsoft.com/office/drawing/2014/main" id="{7F943B29-B1D3-6889-33E7-1A4C428E1D94}"/>
              </a:ext>
            </a:extLst>
          </p:cNvPr>
          <p:cNvSpPr>
            <a:spLocks noGrp="1"/>
          </p:cNvSpPr>
          <p:nvPr>
            <p:ph type="sldNum" sz="quarter" idx="7"/>
          </p:nvPr>
        </p:nvSpPr>
        <p:spPr/>
        <p:txBody>
          <a:bodyPr/>
          <a:lstStyle/>
          <a:p>
            <a:fld id="{81D60167-4931-47E6-BA6A-407CBD079E47}" type="slidenum">
              <a:rPr lang="en-US" spc="-50" dirty="0"/>
              <a:t>12</a:t>
            </a:fld>
            <a:endParaRPr lang="en-US"/>
          </a:p>
        </p:txBody>
      </p:sp>
    </p:spTree>
    <p:extLst>
      <p:ext uri="{BB962C8B-B14F-4D97-AF65-F5344CB8AC3E}">
        <p14:creationId xmlns:p14="http://schemas.microsoft.com/office/powerpoint/2010/main" val="959366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E0E7-6D2A-858C-407F-327E8A7AC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62D88-A46B-5912-329D-E63F77523936}"/>
              </a:ext>
            </a:extLst>
          </p:cNvPr>
          <p:cNvSpPr>
            <a:spLocks noGrp="1"/>
          </p:cNvSpPr>
          <p:nvPr>
            <p:ph type="title"/>
          </p:nvPr>
        </p:nvSpPr>
        <p:spPr>
          <a:xfrm>
            <a:off x="536575" y="568960"/>
            <a:ext cx="4244340" cy="446276"/>
          </a:xfrm>
        </p:spPr>
        <p:txBody>
          <a:bodyPr/>
          <a:lstStyle/>
          <a:p>
            <a:r>
              <a:rPr lang="en-US" sz="2900" dirty="0">
                <a:latin typeface="Times New Roman" panose="02020603050405020304" pitchFamily="18" charset="0"/>
                <a:cs typeface="Times New Roman" panose="02020603050405020304" pitchFamily="18" charset="0"/>
              </a:rPr>
              <a:t>Components required</a:t>
            </a:r>
            <a:endParaRPr lang="en-IN" sz="29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427667A-71EB-64F0-1E74-B9A8ED95D5BC}"/>
              </a:ext>
            </a:extLst>
          </p:cNvPr>
          <p:cNvSpPr>
            <a:spLocks noGrp="1"/>
          </p:cNvSpPr>
          <p:nvPr>
            <p:ph type="body" idx="1"/>
          </p:nvPr>
        </p:nvSpPr>
        <p:spPr>
          <a:xfrm>
            <a:off x="536575" y="1219200"/>
            <a:ext cx="8302626" cy="3689728"/>
          </a:xfrm>
        </p:spPr>
        <p:txBody>
          <a:bodyPr wrap="square" lIns="0" tIns="0" rIns="0" bIns="0" anchor="t">
            <a:spAutoFit/>
          </a:bodyPr>
          <a:lstStyle/>
          <a:p>
            <a:pPr marL="342900" indent="-342900" algn="just">
              <a:lnSpc>
                <a:spcPct val="150000"/>
              </a:lnSpc>
              <a:buFont typeface="Wingdings" panose="05000000000000000000" pitchFamily="2" charset="2"/>
              <a:buChar char="q"/>
            </a:pPr>
            <a:r>
              <a:rPr lang="en-US" dirty="0">
                <a:latin typeface="Times New Roman"/>
                <a:ea typeface="Calibri"/>
                <a:cs typeface="Times New Roman"/>
              </a:rPr>
              <a:t>MPPT Board (Maximum Power Point Tracking)Optimizes the power extracted from solar panels for maximum efficiency . It regulates charging and protects the battery from overcharging.</a:t>
            </a:r>
            <a:endParaRPr lang="en-IN" dirty="0">
              <a:latin typeface="Times New Roman"/>
              <a:ea typeface="Calibri"/>
              <a:cs typeface="Times New Roman"/>
            </a:endParaRPr>
          </a:p>
          <a:p>
            <a:pPr marL="342900" indent="-342900" algn="just">
              <a:lnSpc>
                <a:spcPct val="150000"/>
              </a:lnSpc>
              <a:buFont typeface="Wingdings" panose="05000000000000000000" pitchFamily="2" charset="2"/>
              <a:buChar char="q"/>
            </a:pPr>
            <a:r>
              <a:rPr lang="en-US" dirty="0">
                <a:latin typeface="Times New Roman"/>
                <a:cs typeface="Times New Roman"/>
              </a:rPr>
              <a:t>LED Strip Provides illumination using low power and high efficiency LEDs . Used for indication, decoration, or lighting in the project setup.</a:t>
            </a:r>
            <a:endParaRPr lang="en-US" dirty="0">
              <a:ea typeface="Calibri"/>
              <a:cs typeface="Calibri"/>
            </a:endParaRPr>
          </a:p>
          <a:p>
            <a:pPr marL="342900" indent="-342900" algn="just">
              <a:lnSpc>
                <a:spcPct val="150000"/>
              </a:lnSpc>
              <a:buFont typeface="Wingdings" panose="05000000000000000000" pitchFamily="2" charset="2"/>
              <a:buChar char="q"/>
            </a:pPr>
            <a:r>
              <a:rPr lang="en-US" dirty="0">
                <a:latin typeface="Times New Roman"/>
                <a:cs typeface="Times New Roman"/>
              </a:rPr>
              <a:t>Battery stores electrical energy and supplies power to the boat’s electrical system when required</a:t>
            </a:r>
          </a:p>
          <a:p>
            <a:pPr marL="342900" indent="-342900" algn="just">
              <a:lnSpc>
                <a:spcPct val="150000"/>
              </a:lnSpc>
              <a:buFont typeface="Wingdings" panose="05000000000000000000" pitchFamily="2" charset="2"/>
              <a:buChar char="q"/>
            </a:pPr>
            <a:r>
              <a:rPr lang="en-US" dirty="0">
                <a:latin typeface="Times New Roman"/>
                <a:cs typeface="Times New Roman"/>
              </a:rPr>
              <a:t>Charging module regulates and manages the safe charging of the battery from the wireless power transfer system</a:t>
            </a:r>
          </a:p>
        </p:txBody>
      </p:sp>
      <p:pic>
        <p:nvPicPr>
          <p:cNvPr id="5" name="Picture 4" descr="A cup with wires in it&#10;&#10;AI-generated content may be incorrect.">
            <a:extLst>
              <a:ext uri="{FF2B5EF4-FFF2-40B4-BE49-F238E27FC236}">
                <a16:creationId xmlns:a16="http://schemas.microsoft.com/office/drawing/2014/main" id="{331AECC6-CC77-F0F1-B3B5-547C3D900F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2200" y="-4354286"/>
            <a:ext cx="2333625" cy="4148667"/>
          </a:xfrm>
          <a:prstGeom prst="rect">
            <a:avLst/>
          </a:prstGeom>
        </p:spPr>
      </p:pic>
      <p:sp>
        <p:nvSpPr>
          <p:cNvPr id="6" name="Slide Number Placeholder 5">
            <a:extLst>
              <a:ext uri="{FF2B5EF4-FFF2-40B4-BE49-F238E27FC236}">
                <a16:creationId xmlns:a16="http://schemas.microsoft.com/office/drawing/2014/main" id="{AFD38CC1-8B9E-8708-542A-554ADD8999B4}"/>
              </a:ext>
            </a:extLst>
          </p:cNvPr>
          <p:cNvSpPr>
            <a:spLocks noGrp="1"/>
          </p:cNvSpPr>
          <p:nvPr>
            <p:ph type="sldNum" sz="quarter" idx="7"/>
          </p:nvPr>
        </p:nvSpPr>
        <p:spPr/>
        <p:txBody>
          <a:bodyPr/>
          <a:lstStyle/>
          <a:p>
            <a:fld id="{81D60167-4931-47E6-BA6A-407CBD079E47}" type="slidenum">
              <a:rPr lang="en-US" spc="-50" dirty="0"/>
              <a:t>13</a:t>
            </a:fld>
            <a:endParaRPr lang="en-US"/>
          </a:p>
        </p:txBody>
      </p:sp>
    </p:spTree>
    <p:extLst>
      <p:ext uri="{BB962C8B-B14F-4D97-AF65-F5344CB8AC3E}">
        <p14:creationId xmlns:p14="http://schemas.microsoft.com/office/powerpoint/2010/main" val="2637684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6090149-B9C6-EA37-6C0F-5BDAC00AB2A5}"/>
              </a:ext>
            </a:extLst>
          </p:cNvPr>
          <p:cNvSpPr>
            <a:spLocks noGrp="1"/>
          </p:cNvSpPr>
          <p:nvPr>
            <p:ph type="body" idx="1"/>
          </p:nvPr>
        </p:nvSpPr>
        <p:spPr>
          <a:xfrm>
            <a:off x="457200" y="1371599"/>
            <a:ext cx="5105400" cy="4520725"/>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A hydrogen fuel cell is used as an additional energy source in the system, where hydrogen obtained from the seashore environment is converted into electrical energy to support the power requirements of the boat. It generates electricity through an electrochemical reaction between hydrogen and oxygen, producing water as a by-product. In this project, a magnesium rod and graphite electrode dipped in an electrolyte solution are used to imitate the operation of a hydrogen fuel cell and demonstrate how chemical reactions can produce electrical power.</a:t>
            </a:r>
            <a:endParaRPr lang="en-IN"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3D78E68F-AD8B-B33D-3DCA-8F02E03A9B73}"/>
              </a:ext>
            </a:extLst>
          </p:cNvPr>
          <p:cNvSpPr>
            <a:spLocks noGrp="1"/>
          </p:cNvSpPr>
          <p:nvPr>
            <p:ph type="title"/>
          </p:nvPr>
        </p:nvSpPr>
        <p:spPr>
          <a:xfrm>
            <a:off x="536575" y="568960"/>
            <a:ext cx="4244340" cy="492443"/>
          </a:xfrm>
        </p:spPr>
        <p:txBody>
          <a:bodyPr/>
          <a:lstStyle/>
          <a:p>
            <a:r>
              <a:rPr lang="en-US" dirty="0"/>
              <a:t>HYDROGEN FUEL CELL</a:t>
            </a:r>
            <a:endParaRPr lang="en-IN" dirty="0"/>
          </a:p>
        </p:txBody>
      </p:sp>
      <p:pic>
        <p:nvPicPr>
          <p:cNvPr id="7" name="Picture 6">
            <a:extLst>
              <a:ext uri="{FF2B5EF4-FFF2-40B4-BE49-F238E27FC236}">
                <a16:creationId xmlns:a16="http://schemas.microsoft.com/office/drawing/2014/main" id="{1F3B18EF-4DA3-BB48-A34B-C4A97CBEC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19800" y="1393766"/>
            <a:ext cx="2811144" cy="3327200"/>
          </a:xfrm>
          <a:prstGeom prst="rect">
            <a:avLst/>
          </a:prstGeom>
        </p:spPr>
      </p:pic>
      <p:sp>
        <p:nvSpPr>
          <p:cNvPr id="6" name="Slide Number Placeholder 5">
            <a:extLst>
              <a:ext uri="{FF2B5EF4-FFF2-40B4-BE49-F238E27FC236}">
                <a16:creationId xmlns:a16="http://schemas.microsoft.com/office/drawing/2014/main" id="{EF06A764-80B6-4E7F-4458-962C55D2FEA1}"/>
              </a:ext>
            </a:extLst>
          </p:cNvPr>
          <p:cNvSpPr>
            <a:spLocks noGrp="1"/>
          </p:cNvSpPr>
          <p:nvPr>
            <p:ph type="sldNum" sz="quarter" idx="7"/>
          </p:nvPr>
        </p:nvSpPr>
        <p:spPr/>
        <p:txBody>
          <a:bodyPr/>
          <a:lstStyle/>
          <a:p>
            <a:fld id="{81D60167-4931-47E6-BA6A-407CBD079E47}" type="slidenum">
              <a:rPr lang="en-US" spc="-50" dirty="0"/>
              <a:t>14</a:t>
            </a:fld>
            <a:endParaRPr lang="en-US"/>
          </a:p>
        </p:txBody>
      </p:sp>
      <p:pic>
        <p:nvPicPr>
          <p:cNvPr id="9" name="Picture 8" descr="A close-up of a microchip&#10;&#10;AI-generated content may be incorrect.">
            <a:extLst>
              <a:ext uri="{FF2B5EF4-FFF2-40B4-BE49-F238E27FC236}">
                <a16:creationId xmlns:a16="http://schemas.microsoft.com/office/drawing/2014/main" id="{8BDC1890-E2C2-52D3-9A7D-10A65A4DAE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3974" y="7038110"/>
            <a:ext cx="4015811" cy="3048000"/>
          </a:xfrm>
          <a:prstGeom prst="rect">
            <a:avLst/>
          </a:prstGeom>
        </p:spPr>
      </p:pic>
    </p:spTree>
    <p:extLst>
      <p:ext uri="{BB962C8B-B14F-4D97-AF65-F5344CB8AC3E}">
        <p14:creationId xmlns:p14="http://schemas.microsoft.com/office/powerpoint/2010/main" val="31293804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6E1A-9927-16AE-B445-AAE14BA4B130}"/>
              </a:ext>
            </a:extLst>
          </p:cNvPr>
          <p:cNvSpPr>
            <a:spLocks noGrp="1"/>
          </p:cNvSpPr>
          <p:nvPr>
            <p:ph type="ctrTitle"/>
          </p:nvPr>
        </p:nvSpPr>
        <p:spPr>
          <a:xfrm>
            <a:off x="536575" y="568960"/>
            <a:ext cx="1960880" cy="492443"/>
          </a:xfrm>
        </p:spPr>
        <p:txBody>
          <a:bodyPr/>
          <a:lstStyle/>
          <a:p>
            <a:r>
              <a:rPr lang="en-US" dirty="0">
                <a:latin typeface="Times New Roman" panose="02020603050405020304" pitchFamily="18" charset="0"/>
                <a:cs typeface="Times New Roman" panose="02020603050405020304" pitchFamily="18" charset="0"/>
              </a:rPr>
              <a:t>ESP 32</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68DC640-4D7E-DAF5-5FE0-DFC3A9BAACCF}"/>
              </a:ext>
            </a:extLst>
          </p:cNvPr>
          <p:cNvSpPr>
            <a:spLocks noGrp="1"/>
          </p:cNvSpPr>
          <p:nvPr>
            <p:ph type="subTitle" idx="4"/>
          </p:nvPr>
        </p:nvSpPr>
        <p:spPr>
          <a:xfrm>
            <a:off x="457200" y="1371600"/>
            <a:ext cx="4343400" cy="4917440"/>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ESP32 is a powerful microcontroller used to control and monitor the entire system. The program code for the project is uploaded (dumped) into the ESP32, which allows it to process signals from the wireless power transfer system. It reads the voltage, current, and power values from the sensors and displays them on the display module. It also helps in managing communication between the charging station and the boat, ensuring proper monitoring and control of the charging process.</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76DCAE1-5914-645E-B134-02E97CA406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0" y="2590800"/>
            <a:ext cx="3513835" cy="2667000"/>
          </a:xfrm>
          <a:prstGeom prst="rect">
            <a:avLst/>
          </a:prstGeom>
        </p:spPr>
      </p:pic>
      <p:sp>
        <p:nvSpPr>
          <p:cNvPr id="6" name="Slide Number Placeholder 5">
            <a:extLst>
              <a:ext uri="{FF2B5EF4-FFF2-40B4-BE49-F238E27FC236}">
                <a16:creationId xmlns:a16="http://schemas.microsoft.com/office/drawing/2014/main" id="{DF132CD1-BD58-86F0-7C90-FA2DB8226848}"/>
              </a:ext>
            </a:extLst>
          </p:cNvPr>
          <p:cNvSpPr>
            <a:spLocks noGrp="1"/>
          </p:cNvSpPr>
          <p:nvPr>
            <p:ph type="sldNum" sz="quarter" idx="7"/>
          </p:nvPr>
        </p:nvSpPr>
        <p:spPr/>
        <p:txBody>
          <a:bodyPr/>
          <a:lstStyle/>
          <a:p>
            <a:fld id="{81D60167-4931-47E6-BA6A-407CBD079E47}" type="slidenum">
              <a:rPr lang="en-US" spc="-50" dirty="0"/>
              <a:t>15</a:t>
            </a:fld>
            <a:endParaRPr lang="en-US"/>
          </a:p>
        </p:txBody>
      </p:sp>
    </p:spTree>
    <p:extLst>
      <p:ext uri="{BB962C8B-B14F-4D97-AF65-F5344CB8AC3E}">
        <p14:creationId xmlns:p14="http://schemas.microsoft.com/office/powerpoint/2010/main" val="1568634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WhatsApp Video 2026-01-30 at 9.51.00 PM">
            <a:hlinkClick r:id="" action="ppaction://media"/>
            <a:extLst>
              <a:ext uri="{FF2B5EF4-FFF2-40B4-BE49-F238E27FC236}">
                <a16:creationId xmlns:a16="http://schemas.microsoft.com/office/drawing/2014/main" id="{93E6B967-3CDA-8F87-42E2-42BD698DBE4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62001" y="1371600"/>
            <a:ext cx="7696200" cy="4648200"/>
          </a:xfrm>
          <a:prstGeom prst="rect">
            <a:avLst/>
          </a:prstGeom>
        </p:spPr>
      </p:pic>
      <p:sp>
        <p:nvSpPr>
          <p:cNvPr id="3" name="TextBox 2">
            <a:extLst>
              <a:ext uri="{FF2B5EF4-FFF2-40B4-BE49-F238E27FC236}">
                <a16:creationId xmlns:a16="http://schemas.microsoft.com/office/drawing/2014/main" id="{680387C5-E27F-7AB2-AF98-8323FC160195}"/>
              </a:ext>
            </a:extLst>
          </p:cNvPr>
          <p:cNvSpPr txBox="1"/>
          <p:nvPr/>
        </p:nvSpPr>
        <p:spPr>
          <a:xfrm>
            <a:off x="762001" y="228600"/>
            <a:ext cx="5410200" cy="954107"/>
          </a:xfrm>
          <a:prstGeom prst="rect">
            <a:avLst/>
          </a:prstGeom>
          <a:noFill/>
        </p:spPr>
        <p:txBody>
          <a:bodyPr wrap="square" rtlCol="0">
            <a:spAutoFit/>
          </a:bodyPr>
          <a:lstStyle/>
          <a:p>
            <a:r>
              <a:rPr lang="en-US" sz="2800" dirty="0">
                <a:latin typeface="Times New Roman" panose="02020603050405020304" pitchFamily="18" charset="0"/>
                <a:ea typeface="Cambria" panose="02040503050406030204" pitchFamily="18" charset="0"/>
                <a:cs typeface="Times New Roman" panose="02020603050405020304" pitchFamily="18" charset="0"/>
              </a:rPr>
              <a:t>HARDWARE DEVELOPMENT  OF CHARGING STATION</a:t>
            </a:r>
            <a:endParaRPr lang="en-IN" sz="28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2AEA3B9-2240-8FB7-6DAC-1108F0637560}"/>
              </a:ext>
            </a:extLst>
          </p:cNvPr>
          <p:cNvSpPr>
            <a:spLocks noGrp="1"/>
          </p:cNvSpPr>
          <p:nvPr>
            <p:ph type="sldNum" sz="quarter" idx="7"/>
          </p:nvPr>
        </p:nvSpPr>
        <p:spPr/>
        <p:txBody>
          <a:bodyPr/>
          <a:lstStyle/>
          <a:p>
            <a:fld id="{81D60167-4931-47E6-BA6A-407CBD079E47}" type="slidenum">
              <a:rPr lang="en-US" spc="-50" dirty="0"/>
              <a:t>16</a:t>
            </a:fld>
            <a:endParaRPr lang="en-US"/>
          </a:p>
        </p:txBody>
      </p:sp>
    </p:spTree>
    <p:extLst>
      <p:ext uri="{BB962C8B-B14F-4D97-AF65-F5344CB8AC3E}">
        <p14:creationId xmlns:p14="http://schemas.microsoft.com/office/powerpoint/2010/main" val="52114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503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3108-88D2-6999-4545-1F0E2D175AF7}"/>
              </a:ext>
            </a:extLst>
          </p:cNvPr>
          <p:cNvSpPr>
            <a:spLocks noGrp="1"/>
          </p:cNvSpPr>
          <p:nvPr>
            <p:ph type="title"/>
          </p:nvPr>
        </p:nvSpPr>
        <p:spPr>
          <a:xfrm>
            <a:off x="533078" y="458258"/>
            <a:ext cx="7616825" cy="497840"/>
          </a:xfrm>
        </p:spPr>
        <p:txBody>
          <a:bodyPr/>
          <a:lstStyle/>
          <a:p>
            <a:r>
              <a:rPr lang="en-US" dirty="0">
                <a:latin typeface="Times New Roman" panose="02020603050405020304" pitchFamily="18" charset="0"/>
                <a:cs typeface="Times New Roman" panose="02020603050405020304" pitchFamily="18" charset="0"/>
              </a:rPr>
              <a:t>HARDWARE DEVELOPMENT OF SHIP</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7AA1616-1C5A-A007-CD43-95EE260D8546}"/>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2E3655FC-790D-026C-2BF1-4A3F27E339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04590" y="1410381"/>
            <a:ext cx="5031240" cy="3878034"/>
          </a:xfrm>
          <a:prstGeom prst="rect">
            <a:avLst/>
          </a:prstGeom>
        </p:spPr>
      </p:pic>
      <p:pic>
        <p:nvPicPr>
          <p:cNvPr id="7" name="Picture 6">
            <a:extLst>
              <a:ext uri="{FF2B5EF4-FFF2-40B4-BE49-F238E27FC236}">
                <a16:creationId xmlns:a16="http://schemas.microsoft.com/office/drawing/2014/main" id="{BA94AC6C-7C8A-50ED-B680-0EC3214AC3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2322" y="1411220"/>
            <a:ext cx="5218338" cy="3878034"/>
          </a:xfrm>
          <a:prstGeom prst="rect">
            <a:avLst/>
          </a:prstGeom>
        </p:spPr>
      </p:pic>
      <p:sp>
        <p:nvSpPr>
          <p:cNvPr id="6" name="Slide Number Placeholder 5">
            <a:extLst>
              <a:ext uri="{FF2B5EF4-FFF2-40B4-BE49-F238E27FC236}">
                <a16:creationId xmlns:a16="http://schemas.microsoft.com/office/drawing/2014/main" id="{CEB440E4-BF55-A1C7-2ABF-818D7B9CE4DB}"/>
              </a:ext>
            </a:extLst>
          </p:cNvPr>
          <p:cNvSpPr>
            <a:spLocks noGrp="1"/>
          </p:cNvSpPr>
          <p:nvPr>
            <p:ph type="sldNum" sz="quarter" idx="7"/>
          </p:nvPr>
        </p:nvSpPr>
        <p:spPr/>
        <p:txBody>
          <a:bodyPr/>
          <a:lstStyle/>
          <a:p>
            <a:fld id="{81D60167-4931-47E6-BA6A-407CBD079E47}" type="slidenum">
              <a:rPr lang="en-US" spc="-50" dirty="0"/>
              <a:t>17</a:t>
            </a:fld>
            <a:endParaRPr lang="en-US"/>
          </a:p>
        </p:txBody>
      </p:sp>
    </p:spTree>
    <p:extLst>
      <p:ext uri="{BB962C8B-B14F-4D97-AF65-F5344CB8AC3E}">
        <p14:creationId xmlns:p14="http://schemas.microsoft.com/office/powerpoint/2010/main" val="40480047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9F203-C8F4-A87E-D116-0BE336F2E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DE3BE-1557-B977-1C3A-F198F6C3AB19}"/>
              </a:ext>
            </a:extLst>
          </p:cNvPr>
          <p:cNvSpPr>
            <a:spLocks noGrp="1"/>
          </p:cNvSpPr>
          <p:nvPr>
            <p:ph type="title"/>
          </p:nvPr>
        </p:nvSpPr>
        <p:spPr>
          <a:xfrm>
            <a:off x="536574" y="568960"/>
            <a:ext cx="7616825" cy="497840"/>
          </a:xfrm>
        </p:spPr>
        <p:txBody>
          <a:bodyPr/>
          <a:lstStyle/>
          <a:p>
            <a:r>
              <a:rPr lang="en-US" dirty="0">
                <a:latin typeface="Times New Roman" panose="02020603050405020304" pitchFamily="18" charset="0"/>
                <a:cs typeface="Times New Roman" panose="02020603050405020304" pitchFamily="18" charset="0"/>
              </a:rPr>
              <a:t>HARDWARE DEVELOPMENT OF SHIP</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8A2676C-AF54-9D02-8A70-2A5A6F36FDB2}"/>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A192E447-0E4D-FF3C-19E7-B348DF9B12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30161" y="1410381"/>
            <a:ext cx="5031240" cy="3878034"/>
          </a:xfrm>
          <a:prstGeom prst="rect">
            <a:avLst/>
          </a:prstGeom>
        </p:spPr>
      </p:pic>
      <p:pic>
        <p:nvPicPr>
          <p:cNvPr id="7" name="Picture 6">
            <a:extLst>
              <a:ext uri="{FF2B5EF4-FFF2-40B4-BE49-F238E27FC236}">
                <a16:creationId xmlns:a16="http://schemas.microsoft.com/office/drawing/2014/main" id="{8DF2909C-DD22-5C1E-BA1E-B461BB9EB7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93071" y="1492863"/>
            <a:ext cx="5218338" cy="3878034"/>
          </a:xfrm>
          <a:prstGeom prst="rect">
            <a:avLst/>
          </a:prstGeom>
        </p:spPr>
      </p:pic>
      <p:sp>
        <p:nvSpPr>
          <p:cNvPr id="6" name="Slide Number Placeholder 5">
            <a:extLst>
              <a:ext uri="{FF2B5EF4-FFF2-40B4-BE49-F238E27FC236}">
                <a16:creationId xmlns:a16="http://schemas.microsoft.com/office/drawing/2014/main" id="{2C75ABFA-D8E5-25FD-2A06-485AD1C9666F}"/>
              </a:ext>
            </a:extLst>
          </p:cNvPr>
          <p:cNvSpPr>
            <a:spLocks noGrp="1"/>
          </p:cNvSpPr>
          <p:nvPr>
            <p:ph type="sldNum" sz="quarter" idx="7"/>
          </p:nvPr>
        </p:nvSpPr>
        <p:spPr/>
        <p:txBody>
          <a:bodyPr/>
          <a:lstStyle/>
          <a:p>
            <a:fld id="{81D60167-4931-47E6-BA6A-407CBD079E47}" type="slidenum">
              <a:rPr lang="en-US" spc="-50" dirty="0"/>
              <a:t>18</a:t>
            </a:fld>
            <a:endParaRPr lang="en-US"/>
          </a:p>
        </p:txBody>
      </p:sp>
    </p:spTree>
    <p:extLst>
      <p:ext uri="{BB962C8B-B14F-4D97-AF65-F5344CB8AC3E}">
        <p14:creationId xmlns:p14="http://schemas.microsoft.com/office/powerpoint/2010/main" val="4241889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952DE-FDA8-BAF7-D85B-1052466771A0}"/>
              </a:ext>
            </a:extLst>
          </p:cNvPr>
          <p:cNvSpPr>
            <a:spLocks noGrp="1"/>
          </p:cNvSpPr>
          <p:nvPr>
            <p:ph type="ctrTitle"/>
          </p:nvPr>
        </p:nvSpPr>
        <p:spPr>
          <a:xfrm>
            <a:off x="536574" y="568960"/>
            <a:ext cx="6778625" cy="492443"/>
          </a:xfrm>
        </p:spPr>
        <p:txBody>
          <a:bodyPr/>
          <a:lstStyle/>
          <a:p>
            <a:r>
              <a:rPr lang="en-US" dirty="0">
                <a:latin typeface="Times New Roman" panose="02020603050405020304" pitchFamily="18" charset="0"/>
                <a:cs typeface="Times New Roman" panose="02020603050405020304" pitchFamily="18" charset="0"/>
              </a:rPr>
              <a:t>SINGLE LINE DIAGRAM FOR SHIP</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8520725-8F04-43C0-3BAE-F10AC4562083}"/>
              </a:ext>
            </a:extLst>
          </p:cNvPr>
          <p:cNvSpPr>
            <a:spLocks noGrp="1"/>
          </p:cNvSpPr>
          <p:nvPr>
            <p:ph type="subTitle" idx="4"/>
          </p:nvPr>
        </p:nvSpPr>
        <p:spPr/>
        <p:txBody>
          <a:bodyPr/>
          <a:lstStyle/>
          <a:p>
            <a:endParaRPr lang="en-IN"/>
          </a:p>
        </p:txBody>
      </p:sp>
      <p:sp>
        <p:nvSpPr>
          <p:cNvPr id="5" name="Slide Number Placeholder 4">
            <a:extLst>
              <a:ext uri="{FF2B5EF4-FFF2-40B4-BE49-F238E27FC236}">
                <a16:creationId xmlns:a16="http://schemas.microsoft.com/office/drawing/2014/main" id="{E2292ECB-DB68-6950-E88C-B0F5CA268E11}"/>
              </a:ext>
            </a:extLst>
          </p:cNvPr>
          <p:cNvSpPr>
            <a:spLocks noGrp="1"/>
          </p:cNvSpPr>
          <p:nvPr>
            <p:ph type="sldNum" sz="quarter" idx="7"/>
          </p:nvPr>
        </p:nvSpPr>
        <p:spPr/>
        <p:txBody>
          <a:bodyPr/>
          <a:lstStyle/>
          <a:p>
            <a:fld id="{81D60167-4931-47E6-BA6A-407CBD079E47}" type="slidenum">
              <a:rPr lang="en-US" spc="-50" dirty="0"/>
              <a:t>19</a:t>
            </a:fld>
            <a:endParaRPr lang="en-US"/>
          </a:p>
        </p:txBody>
      </p:sp>
      <p:pic>
        <p:nvPicPr>
          <p:cNvPr id="6" name="Picture 5" descr="A diagram of a solar panel&#10;&#10;AI-generated content may be incorrect.">
            <a:extLst>
              <a:ext uri="{FF2B5EF4-FFF2-40B4-BE49-F238E27FC236}">
                <a16:creationId xmlns:a16="http://schemas.microsoft.com/office/drawing/2014/main" id="{9AB48868-074C-6006-61F6-BA49B57511BC}"/>
              </a:ext>
            </a:extLst>
          </p:cNvPr>
          <p:cNvPicPr>
            <a:picLocks noChangeAspect="1"/>
          </p:cNvPicPr>
          <p:nvPr/>
        </p:nvPicPr>
        <p:blipFill>
          <a:blip r:embed="rId2"/>
          <a:stretch>
            <a:fillRect/>
          </a:stretch>
        </p:blipFill>
        <p:spPr>
          <a:xfrm>
            <a:off x="0" y="1105580"/>
            <a:ext cx="9144000" cy="5279572"/>
          </a:xfrm>
          <a:prstGeom prst="rect">
            <a:avLst/>
          </a:prstGeom>
        </p:spPr>
      </p:pic>
    </p:spTree>
    <p:extLst>
      <p:ext uri="{BB962C8B-B14F-4D97-AF65-F5344CB8AC3E}">
        <p14:creationId xmlns:p14="http://schemas.microsoft.com/office/powerpoint/2010/main" val="3477779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80E7F-8D17-68ED-49BC-E763DE92CC3C}"/>
              </a:ext>
            </a:extLst>
          </p:cNvPr>
          <p:cNvSpPr>
            <a:spLocks noGrp="1"/>
          </p:cNvSpPr>
          <p:nvPr>
            <p:ph type="title"/>
          </p:nvPr>
        </p:nvSpPr>
        <p:spPr>
          <a:xfrm>
            <a:off x="536575" y="568960"/>
            <a:ext cx="4244340" cy="492443"/>
          </a:xfrm>
        </p:spPr>
        <p:txBody>
          <a:bodyPr/>
          <a:lstStyle/>
          <a:p>
            <a:r>
              <a:rPr lang="en-US" dirty="0">
                <a:latin typeface="Times New Roman" panose="02020603050405020304" pitchFamily="18" charset="0"/>
                <a:cs typeface="Times New Roman" panose="02020603050405020304" pitchFamily="18" charset="0"/>
              </a:rPr>
              <a:t>Theoretical Calculations</a:t>
            </a:r>
            <a:endParaRPr lang="en-IN" dirty="0">
              <a:latin typeface="Times New Roman" panose="02020603050405020304" pitchFamily="18" charset="0"/>
              <a:cs typeface="Times New Roman" panose="02020603050405020304" pitchFamily="18" charset="0"/>
            </a:endParaRPr>
          </a:p>
        </p:txBody>
      </p:sp>
      <p:pic>
        <p:nvPicPr>
          <p:cNvPr id="4" name="Picture 3" descr="A screenshot of a device&#10;&#10;AI-generated content may be incorrect.">
            <a:extLst>
              <a:ext uri="{FF2B5EF4-FFF2-40B4-BE49-F238E27FC236}">
                <a16:creationId xmlns:a16="http://schemas.microsoft.com/office/drawing/2014/main" id="{130EE6C3-7B89-B663-15DD-1074A060473B}"/>
              </a:ext>
            </a:extLst>
          </p:cNvPr>
          <p:cNvPicPr>
            <a:picLocks noChangeAspect="1"/>
          </p:cNvPicPr>
          <p:nvPr/>
        </p:nvPicPr>
        <p:blipFill>
          <a:blip r:embed="rId2"/>
          <a:stretch>
            <a:fillRect/>
          </a:stretch>
        </p:blipFill>
        <p:spPr>
          <a:xfrm>
            <a:off x="5222061" y="1357312"/>
            <a:ext cx="3690297" cy="4929188"/>
          </a:xfrm>
          <a:prstGeom prst="rect">
            <a:avLst/>
          </a:prstGeom>
        </p:spPr>
      </p:pic>
      <p:pic>
        <p:nvPicPr>
          <p:cNvPr id="5" name="Picture 4" descr="A screenshot of a device&#10;&#10;AI-generated content may be incorrect.">
            <a:extLst>
              <a:ext uri="{FF2B5EF4-FFF2-40B4-BE49-F238E27FC236}">
                <a16:creationId xmlns:a16="http://schemas.microsoft.com/office/drawing/2014/main" id="{BF03C9AF-3837-07C4-8F09-751E634FF1C7}"/>
              </a:ext>
            </a:extLst>
          </p:cNvPr>
          <p:cNvPicPr>
            <a:picLocks noChangeAspect="1"/>
          </p:cNvPicPr>
          <p:nvPr/>
        </p:nvPicPr>
        <p:blipFill>
          <a:blip r:embed="rId3"/>
          <a:stretch>
            <a:fillRect/>
          </a:stretch>
        </p:blipFill>
        <p:spPr>
          <a:xfrm>
            <a:off x="785813" y="1359353"/>
            <a:ext cx="3888242" cy="4925106"/>
          </a:xfrm>
          <a:prstGeom prst="rect">
            <a:avLst/>
          </a:prstGeom>
        </p:spPr>
      </p:pic>
      <p:sp>
        <p:nvSpPr>
          <p:cNvPr id="6" name="Slide Number Placeholder 5">
            <a:extLst>
              <a:ext uri="{FF2B5EF4-FFF2-40B4-BE49-F238E27FC236}">
                <a16:creationId xmlns:a16="http://schemas.microsoft.com/office/drawing/2014/main" id="{F4F66D1B-274A-2B2E-47DE-0E7B3A666336}"/>
              </a:ext>
            </a:extLst>
          </p:cNvPr>
          <p:cNvSpPr>
            <a:spLocks noGrp="1"/>
          </p:cNvSpPr>
          <p:nvPr>
            <p:ph type="sldNum" sz="quarter" idx="7"/>
          </p:nvPr>
        </p:nvSpPr>
        <p:spPr/>
        <p:txBody>
          <a:bodyPr/>
          <a:lstStyle/>
          <a:p>
            <a:fld id="{81D60167-4931-47E6-BA6A-407CBD079E47}" type="slidenum">
              <a:rPr lang="en-US" spc="-50" dirty="0"/>
              <a:t>20</a:t>
            </a:fld>
            <a:endParaRPr lang="en-US"/>
          </a:p>
        </p:txBody>
      </p:sp>
    </p:spTree>
    <p:extLst>
      <p:ext uri="{BB962C8B-B14F-4D97-AF65-F5344CB8AC3E}">
        <p14:creationId xmlns:p14="http://schemas.microsoft.com/office/powerpoint/2010/main" val="4050072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85774-D9AA-7E2C-467B-96C993396E5B}"/>
              </a:ext>
            </a:extLst>
          </p:cNvPr>
          <p:cNvSpPr>
            <a:spLocks noGrp="1"/>
          </p:cNvSpPr>
          <p:nvPr>
            <p:ph type="title"/>
          </p:nvPr>
        </p:nvSpPr>
        <p:spPr>
          <a:xfrm>
            <a:off x="536575" y="568960"/>
            <a:ext cx="4244340" cy="492443"/>
          </a:xfrm>
        </p:spPr>
        <p:txBody>
          <a:bodyPr/>
          <a:lstStyle/>
          <a:p>
            <a:r>
              <a:rPr lang="en-US" dirty="0">
                <a:latin typeface="Times New Roman" panose="02020603050405020304" pitchFamily="18" charset="0"/>
                <a:cs typeface="Times New Roman" panose="02020603050405020304" pitchFamily="18" charset="0"/>
              </a:rPr>
              <a:t>Results and Conclusion </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C128A45-920E-64B1-C20E-F60C33A98478}"/>
              </a:ext>
            </a:extLst>
          </p:cNvPr>
          <p:cNvSpPr>
            <a:spLocks noGrp="1"/>
          </p:cNvSpPr>
          <p:nvPr>
            <p:ph type="body" idx="1"/>
          </p:nvPr>
        </p:nvSpPr>
        <p:spPr>
          <a:xfrm>
            <a:off x="478767" y="1295400"/>
            <a:ext cx="4682077" cy="4708981"/>
          </a:xfrm>
        </p:spPr>
        <p:txBody>
          <a:bodyPr wrap="square" lIns="0" tIns="0" rIns="0" bIns="0" anchor="t">
            <a:spAutoFit/>
          </a:bodyPr>
          <a:lstStyle/>
          <a:p>
            <a:r>
              <a:t>The final results of the project demonstrate the successful implementation of the solar wireless power transfer system for electric ships. </a:t>
            </a:r>
          </a:p>
          <a:p>
            <a:r>
              <a:t>When the transmitting and receiving coils are brought close to each other, wireless power transfer takes place and the charging process begins. </a:t>
            </a:r>
          </a:p>
          <a:p>
            <a:r>
              <a:t>During this process, the system continuously monitors and displays important electrical parameters such as voltage, current, and power on the display module. </a:t>
            </a:r>
          </a:p>
          <a:p>
            <a:r>
              <a:t>This real-time display confirms that power is being successfully transferred and utilized for charging. </a:t>
            </a:r>
          </a:p>
          <a:p>
            <a:r>
              <a:t>The developed prototype therefore validates the feasibility of a safe, efficient, and contactless charging method for marine applications.</a:t>
            </a:r>
          </a:p>
          <a:p/>
          <a:p>
            <a:r>
              <a:t>In real-time operation, solar panels placed on the charging station generate energy and charge the battery. The electrical grid is also connected as a backup supply. When the ship comes near the transmitter coil, wireless power transfer takes place through magnetic induction.</a:t>
            </a:r>
          </a:p>
          <a:p/>
          <a:p>
            <a:r>
              <a:t>The ship can also charge using solar panels mounted on top of the ship itself. In addition, a hydrogen fuel cell provides backup power support. The ESP32 WiFi module allows users to monitor charging parameters such as voltage, current, and power directly on a mobile phone.</a:t>
            </a:r>
          </a:p>
        </p:txBody>
      </p:sp>
      <p:pic>
        <p:nvPicPr>
          <p:cNvPr id="5" name="Picture 4">
            <a:extLst>
              <a:ext uri="{FF2B5EF4-FFF2-40B4-BE49-F238E27FC236}">
                <a16:creationId xmlns:a16="http://schemas.microsoft.com/office/drawing/2014/main" id="{328383B5-ECEF-7FA5-B38C-CB95D37CE0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0" y="1295400"/>
            <a:ext cx="3647936" cy="3124200"/>
          </a:xfrm>
          <a:prstGeom prst="rect">
            <a:avLst/>
          </a:prstGeom>
        </p:spPr>
      </p:pic>
      <p:sp>
        <p:nvSpPr>
          <p:cNvPr id="6" name="Slide Number Placeholder 5">
            <a:extLst>
              <a:ext uri="{FF2B5EF4-FFF2-40B4-BE49-F238E27FC236}">
                <a16:creationId xmlns:a16="http://schemas.microsoft.com/office/drawing/2014/main" id="{9098F633-B7AE-4F61-F693-088695D7F2F1}"/>
              </a:ext>
            </a:extLst>
          </p:cNvPr>
          <p:cNvSpPr>
            <a:spLocks noGrp="1"/>
          </p:cNvSpPr>
          <p:nvPr>
            <p:ph type="sldNum" sz="quarter" idx="7"/>
          </p:nvPr>
        </p:nvSpPr>
        <p:spPr/>
        <p:txBody>
          <a:bodyPr/>
          <a:lstStyle/>
          <a:p>
            <a:fld id="{81D60167-4931-47E6-BA6A-407CBD079E47}" type="slidenum">
              <a:rPr lang="en-US" spc="-50" dirty="0"/>
              <a:t>21</a:t>
            </a:fld>
            <a:endParaRPr lang="en-US"/>
          </a:p>
        </p:txBody>
      </p:sp>
    </p:spTree>
    <p:extLst>
      <p:ext uri="{BB962C8B-B14F-4D97-AF65-F5344CB8AC3E}">
        <p14:creationId xmlns:p14="http://schemas.microsoft.com/office/powerpoint/2010/main" val="2984675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E2E6B-7288-728F-2A99-59512015A63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D05C6C3-FC5A-930E-56A4-D3D26AB72F60}"/>
              </a:ext>
            </a:extLst>
          </p:cNvPr>
          <p:cNvSpPr txBox="1">
            <a:spLocks noGrp="1"/>
          </p:cNvSpPr>
          <p:nvPr>
            <p:ph type="title"/>
          </p:nvPr>
        </p:nvSpPr>
        <p:spPr>
          <a:xfrm>
            <a:off x="2358389" y="126364"/>
            <a:ext cx="4430395" cy="472440"/>
          </a:xfrm>
          <a:prstGeom prst="rect">
            <a:avLst/>
          </a:prstGeom>
        </p:spPr>
        <p:txBody>
          <a:bodyPr vert="horz" wrap="square" lIns="0" tIns="16510" rIns="0" bIns="0" rtlCol="0">
            <a:spAutoFit/>
          </a:bodyPr>
          <a:lstStyle/>
          <a:p>
            <a:pPr marL="12700">
              <a:lnSpc>
                <a:spcPct val="100000"/>
              </a:lnSpc>
              <a:spcBef>
                <a:spcPts val="130"/>
              </a:spcBef>
            </a:pPr>
            <a:r>
              <a:rPr sz="2900" spc="65" dirty="0"/>
              <a:t>Work</a:t>
            </a:r>
            <a:r>
              <a:rPr sz="2900" spc="114" dirty="0"/>
              <a:t> </a:t>
            </a:r>
            <a:r>
              <a:rPr sz="2900" spc="60" dirty="0"/>
              <a:t>Plan</a:t>
            </a:r>
            <a:r>
              <a:rPr sz="2900" spc="200" dirty="0"/>
              <a:t> </a:t>
            </a:r>
            <a:r>
              <a:rPr sz="2900" spc="340" dirty="0"/>
              <a:t>/</a:t>
            </a:r>
            <a:r>
              <a:rPr sz="2900" spc="125" dirty="0"/>
              <a:t> </a:t>
            </a:r>
            <a:r>
              <a:rPr sz="2900" dirty="0"/>
              <a:t>timeline</a:t>
            </a:r>
            <a:r>
              <a:rPr sz="2900" spc="125" dirty="0"/>
              <a:t> </a:t>
            </a:r>
            <a:r>
              <a:rPr sz="2900" spc="-10" dirty="0"/>
              <a:t>chart</a:t>
            </a:r>
            <a:endParaRPr sz="2900" dirty="0"/>
          </a:p>
        </p:txBody>
      </p:sp>
      <p:sp>
        <p:nvSpPr>
          <p:cNvPr id="5" name="object 5">
            <a:extLst>
              <a:ext uri="{FF2B5EF4-FFF2-40B4-BE49-F238E27FC236}">
                <a16:creationId xmlns:a16="http://schemas.microsoft.com/office/drawing/2014/main" id="{335F3A5D-16D6-A29E-3FDF-1ADF63406B80}"/>
              </a:ext>
            </a:extLst>
          </p:cNvPr>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22</a:t>
            </a:fld>
            <a:endParaRPr spc="-25" dirty="0"/>
          </a:p>
        </p:txBody>
      </p:sp>
      <p:sp>
        <p:nvSpPr>
          <p:cNvPr id="7" name="object 7">
            <a:extLst>
              <a:ext uri="{FF2B5EF4-FFF2-40B4-BE49-F238E27FC236}">
                <a16:creationId xmlns:a16="http://schemas.microsoft.com/office/drawing/2014/main" id="{E3ABEC01-639D-E45D-FFBB-287156C1266B}"/>
              </a:ext>
            </a:extLst>
          </p:cNvPr>
          <p:cNvSpPr txBox="1">
            <a:spLocks noGrp="1"/>
          </p:cNvSpPr>
          <p:nvPr>
            <p:ph type="dt" sz="half" idx="6"/>
          </p:nvPr>
        </p:nvSpPr>
        <p:spPr>
          <a:prstGeom prst="rect">
            <a:avLst/>
          </a:prstGeom>
        </p:spPr>
        <p:txBody>
          <a:bodyPr vert="horz" wrap="square" lIns="0" tIns="73669" rIns="0" bIns="0" rtlCol="0">
            <a:spAutoFit/>
          </a:bodyPr>
          <a:lstStyle/>
          <a:p>
            <a:pPr marL="430530">
              <a:lnSpc>
                <a:spcPct val="100000"/>
              </a:lnSpc>
              <a:spcBef>
                <a:spcPts val="85"/>
              </a:spcBef>
            </a:pPr>
            <a:r>
              <a:rPr spc="95" dirty="0"/>
              <a:t>Department</a:t>
            </a:r>
            <a:r>
              <a:rPr spc="-85" dirty="0"/>
              <a:t> </a:t>
            </a:r>
            <a:r>
              <a:rPr spc="60" dirty="0"/>
              <a:t>of</a:t>
            </a:r>
            <a:r>
              <a:rPr spc="-40" dirty="0"/>
              <a:t> </a:t>
            </a:r>
            <a:r>
              <a:rPr spc="-25" dirty="0"/>
              <a:t>EEE</a:t>
            </a:r>
          </a:p>
        </p:txBody>
      </p:sp>
      <p:sp>
        <p:nvSpPr>
          <p:cNvPr id="3" name="object 3">
            <a:extLst>
              <a:ext uri="{FF2B5EF4-FFF2-40B4-BE49-F238E27FC236}">
                <a16:creationId xmlns:a16="http://schemas.microsoft.com/office/drawing/2014/main" id="{B32F00DA-5AAF-43A9-D188-8366EBADEB99}"/>
              </a:ext>
            </a:extLst>
          </p:cNvPr>
          <p:cNvSpPr txBox="1"/>
          <p:nvPr/>
        </p:nvSpPr>
        <p:spPr>
          <a:xfrm>
            <a:off x="545147" y="584834"/>
            <a:ext cx="8041640" cy="513715"/>
          </a:xfrm>
          <a:prstGeom prst="rect">
            <a:avLst/>
          </a:prstGeom>
        </p:spPr>
        <p:txBody>
          <a:bodyPr vert="horz" wrap="square" lIns="0" tIns="15875" rIns="0" bIns="0" rtlCol="0">
            <a:spAutoFit/>
          </a:bodyPr>
          <a:lstStyle/>
          <a:p>
            <a:pPr algn="ctr">
              <a:lnSpc>
                <a:spcPct val="100000"/>
              </a:lnSpc>
              <a:spcBef>
                <a:spcPts val="125"/>
              </a:spcBef>
            </a:pPr>
            <a:r>
              <a:rPr sz="1550" b="1" dirty="0">
                <a:solidFill>
                  <a:srgbClr val="434342"/>
                </a:solidFill>
                <a:latin typeface="Times New Roman" panose="02020603050405020304" pitchFamily="18" charset="0"/>
                <a:cs typeface="Times New Roman" panose="02020603050405020304" pitchFamily="18" charset="0"/>
              </a:rPr>
              <a:t>The</a:t>
            </a:r>
            <a:r>
              <a:rPr sz="1550" b="1" spc="105"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following</a:t>
            </a:r>
            <a:r>
              <a:rPr sz="1550" b="1" spc="95"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is</a:t>
            </a:r>
            <a:r>
              <a:rPr sz="1550" b="1" spc="125"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a</a:t>
            </a:r>
            <a:r>
              <a:rPr sz="1550" b="1" spc="105"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sample</a:t>
            </a:r>
            <a:r>
              <a:rPr sz="1550" b="1" spc="110"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table.</a:t>
            </a:r>
            <a:r>
              <a:rPr sz="1550" b="1" spc="40"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Please</a:t>
            </a:r>
            <a:r>
              <a:rPr sz="1550" b="1" spc="105"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replace</a:t>
            </a:r>
            <a:r>
              <a:rPr sz="1550" b="1" spc="105"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it</a:t>
            </a:r>
            <a:r>
              <a:rPr sz="1550" b="1" spc="65"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with</a:t>
            </a:r>
            <a:r>
              <a:rPr sz="1550" b="1" spc="80"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the</a:t>
            </a:r>
            <a:r>
              <a:rPr sz="1550" b="1" spc="105"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actual</a:t>
            </a:r>
            <a:r>
              <a:rPr sz="1550" b="1" spc="155"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project</a:t>
            </a:r>
            <a:r>
              <a:rPr sz="1550" b="1" spc="155"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schedule</a:t>
            </a:r>
            <a:r>
              <a:rPr sz="1550" b="1" spc="110" dirty="0">
                <a:solidFill>
                  <a:srgbClr val="434342"/>
                </a:solidFill>
                <a:latin typeface="Times New Roman" panose="02020603050405020304" pitchFamily="18" charset="0"/>
                <a:cs typeface="Times New Roman" panose="02020603050405020304" pitchFamily="18" charset="0"/>
              </a:rPr>
              <a:t> </a:t>
            </a:r>
            <a:r>
              <a:rPr sz="1550" b="1" spc="-10" dirty="0">
                <a:solidFill>
                  <a:srgbClr val="434342"/>
                </a:solidFill>
                <a:latin typeface="Times New Roman" panose="02020603050405020304" pitchFamily="18" charset="0"/>
                <a:cs typeface="Times New Roman" panose="02020603050405020304" pitchFamily="18" charset="0"/>
              </a:rPr>
              <a:t>table</a:t>
            </a:r>
            <a:endParaRPr sz="1550" dirty="0">
              <a:latin typeface="Times New Roman" panose="02020603050405020304" pitchFamily="18" charset="0"/>
              <a:cs typeface="Times New Roman" panose="02020603050405020304" pitchFamily="18" charset="0"/>
            </a:endParaRPr>
          </a:p>
          <a:p>
            <a:pPr marL="19050" algn="ctr">
              <a:lnSpc>
                <a:spcPct val="100000"/>
              </a:lnSpc>
              <a:spcBef>
                <a:spcPts val="90"/>
              </a:spcBef>
            </a:pPr>
            <a:r>
              <a:rPr sz="1550" b="1" dirty="0">
                <a:solidFill>
                  <a:srgbClr val="434342"/>
                </a:solidFill>
                <a:latin typeface="Times New Roman" panose="02020603050405020304" pitchFamily="18" charset="0"/>
                <a:cs typeface="Times New Roman" panose="02020603050405020304" pitchFamily="18" charset="0"/>
              </a:rPr>
              <a:t>as</a:t>
            </a:r>
            <a:r>
              <a:rPr sz="1550" b="1" spc="95"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per</a:t>
            </a:r>
            <a:r>
              <a:rPr sz="1550" b="1" spc="110"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the</a:t>
            </a:r>
            <a:r>
              <a:rPr sz="1550" b="1" spc="80" dirty="0">
                <a:solidFill>
                  <a:srgbClr val="434342"/>
                </a:solidFill>
                <a:latin typeface="Times New Roman" panose="02020603050405020304" pitchFamily="18" charset="0"/>
                <a:cs typeface="Times New Roman" panose="02020603050405020304" pitchFamily="18" charset="0"/>
              </a:rPr>
              <a:t> </a:t>
            </a:r>
            <a:r>
              <a:rPr sz="1550" b="1" dirty="0">
                <a:solidFill>
                  <a:srgbClr val="434342"/>
                </a:solidFill>
                <a:latin typeface="Times New Roman" panose="02020603050405020304" pitchFamily="18" charset="0"/>
                <a:cs typeface="Times New Roman" panose="02020603050405020304" pitchFamily="18" charset="0"/>
              </a:rPr>
              <a:t>academic</a:t>
            </a:r>
            <a:r>
              <a:rPr sz="1550" b="1" spc="95" dirty="0">
                <a:solidFill>
                  <a:srgbClr val="434342"/>
                </a:solidFill>
                <a:latin typeface="Times New Roman" panose="02020603050405020304" pitchFamily="18" charset="0"/>
                <a:cs typeface="Times New Roman" panose="02020603050405020304" pitchFamily="18" charset="0"/>
              </a:rPr>
              <a:t> </a:t>
            </a:r>
            <a:r>
              <a:rPr sz="1550" b="1" spc="-10" dirty="0">
                <a:solidFill>
                  <a:srgbClr val="434342"/>
                </a:solidFill>
                <a:latin typeface="Times New Roman" panose="02020603050405020304" pitchFamily="18" charset="0"/>
                <a:cs typeface="Times New Roman" panose="02020603050405020304" pitchFamily="18" charset="0"/>
              </a:rPr>
              <a:t>calendar.</a:t>
            </a:r>
            <a:endParaRPr sz="1550" dirty="0">
              <a:latin typeface="Times New Roman" panose="02020603050405020304" pitchFamily="18" charset="0"/>
              <a:cs typeface="Times New Roman" panose="02020603050405020304" pitchFamily="18" charset="0"/>
            </a:endParaRPr>
          </a:p>
        </p:txBody>
      </p:sp>
      <p:graphicFrame>
        <p:nvGraphicFramePr>
          <p:cNvPr id="4" name="object 4">
            <a:extLst>
              <a:ext uri="{FF2B5EF4-FFF2-40B4-BE49-F238E27FC236}">
                <a16:creationId xmlns:a16="http://schemas.microsoft.com/office/drawing/2014/main" id="{446CC842-8BD6-8A5D-7BB3-D8716DBEBBB4}"/>
              </a:ext>
            </a:extLst>
          </p:cNvPr>
          <p:cNvGraphicFramePr>
            <a:graphicFrameLocks noGrp="1"/>
          </p:cNvGraphicFramePr>
          <p:nvPr>
            <p:extLst>
              <p:ext uri="{D42A27DB-BD31-4B8C-83A1-F6EECF244321}">
                <p14:modId xmlns:p14="http://schemas.microsoft.com/office/powerpoint/2010/main" val="3923499554"/>
              </p:ext>
            </p:extLst>
          </p:nvPr>
        </p:nvGraphicFramePr>
        <p:xfrm>
          <a:off x="792452" y="1226839"/>
          <a:ext cx="7617998" cy="4931117"/>
        </p:xfrm>
        <a:graphic>
          <a:graphicData uri="http://schemas.openxmlformats.org/drawingml/2006/table">
            <a:tbl>
              <a:tblPr firstRow="1" bandRow="1">
                <a:tableStyleId>{2D5ABB26-0587-4C30-8999-92F81FD0307C}</a:tableStyleId>
              </a:tblPr>
              <a:tblGrid>
                <a:gridCol w="1681567">
                  <a:extLst>
                    <a:ext uri="{9D8B030D-6E8A-4147-A177-3AD203B41FA5}">
                      <a16:colId xmlns:a16="http://schemas.microsoft.com/office/drawing/2014/main" val="20000"/>
                    </a:ext>
                  </a:extLst>
                </a:gridCol>
                <a:gridCol w="1017330">
                  <a:extLst>
                    <a:ext uri="{9D8B030D-6E8A-4147-A177-3AD203B41FA5}">
                      <a16:colId xmlns:a16="http://schemas.microsoft.com/office/drawing/2014/main" val="20001"/>
                    </a:ext>
                  </a:extLst>
                </a:gridCol>
                <a:gridCol w="1076177">
                  <a:extLst>
                    <a:ext uri="{9D8B030D-6E8A-4147-A177-3AD203B41FA5}">
                      <a16:colId xmlns:a16="http://schemas.microsoft.com/office/drawing/2014/main" val="20002"/>
                    </a:ext>
                  </a:extLst>
                </a:gridCol>
                <a:gridCol w="1258358">
                  <a:extLst>
                    <a:ext uri="{9D8B030D-6E8A-4147-A177-3AD203B41FA5}">
                      <a16:colId xmlns:a16="http://schemas.microsoft.com/office/drawing/2014/main" val="20003"/>
                    </a:ext>
                  </a:extLst>
                </a:gridCol>
                <a:gridCol w="1258358">
                  <a:extLst>
                    <a:ext uri="{9D8B030D-6E8A-4147-A177-3AD203B41FA5}">
                      <a16:colId xmlns:a16="http://schemas.microsoft.com/office/drawing/2014/main" val="20004"/>
                    </a:ext>
                  </a:extLst>
                </a:gridCol>
                <a:gridCol w="1326208">
                  <a:extLst>
                    <a:ext uri="{9D8B030D-6E8A-4147-A177-3AD203B41FA5}">
                      <a16:colId xmlns:a16="http://schemas.microsoft.com/office/drawing/2014/main" val="20005"/>
                    </a:ext>
                  </a:extLst>
                </a:gridCol>
              </a:tblGrid>
              <a:tr h="560562">
                <a:tc>
                  <a:txBody>
                    <a:bodyPr/>
                    <a:lstStyle/>
                    <a:p>
                      <a:pPr marL="85725">
                        <a:lnSpc>
                          <a:spcPct val="100000"/>
                        </a:lnSpc>
                        <a:spcBef>
                          <a:spcPts val="1735"/>
                        </a:spcBef>
                      </a:pPr>
                      <a:r>
                        <a:rPr sz="1700" spc="-10" dirty="0">
                          <a:latin typeface="Times New Roman" panose="02020603050405020304" pitchFamily="18" charset="0"/>
                          <a:cs typeface="Times New Roman" panose="02020603050405020304" pitchFamily="18" charset="0"/>
                        </a:rPr>
                        <a:t>Task</a:t>
                      </a:r>
                      <a:r>
                        <a:rPr sz="1700" spc="-85" dirty="0">
                          <a:latin typeface="Times New Roman" panose="02020603050405020304" pitchFamily="18" charset="0"/>
                          <a:cs typeface="Times New Roman" panose="02020603050405020304" pitchFamily="18" charset="0"/>
                        </a:rPr>
                        <a:t> </a:t>
                      </a:r>
                      <a:r>
                        <a:rPr sz="1700" spc="100" dirty="0">
                          <a:latin typeface="Times New Roman" panose="02020603050405020304" pitchFamily="18" charset="0"/>
                          <a:cs typeface="Times New Roman" panose="02020603050405020304" pitchFamily="18" charset="0"/>
                        </a:rPr>
                        <a:t>/</a:t>
                      </a:r>
                      <a:r>
                        <a:rPr sz="1700" spc="-114" dirty="0">
                          <a:latin typeface="Times New Roman" panose="02020603050405020304" pitchFamily="18" charset="0"/>
                          <a:cs typeface="Times New Roman" panose="02020603050405020304" pitchFamily="18" charset="0"/>
                        </a:rPr>
                        <a:t> </a:t>
                      </a:r>
                      <a:r>
                        <a:rPr sz="1700" spc="105" dirty="0">
                          <a:latin typeface="Times New Roman" panose="02020603050405020304" pitchFamily="18" charset="0"/>
                          <a:cs typeface="Times New Roman" panose="02020603050405020304" pitchFamily="18" charset="0"/>
                        </a:rPr>
                        <a:t>Month</a:t>
                      </a:r>
                      <a:endParaRPr sz="1700" dirty="0">
                        <a:latin typeface="Times New Roman" panose="02020603050405020304" pitchFamily="18" charset="0"/>
                        <a:cs typeface="Times New Roman" panose="02020603050405020304" pitchFamily="18" charset="0"/>
                      </a:endParaRPr>
                    </a:p>
                  </a:txBody>
                  <a:tcPr marL="0" marR="0" marT="22034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marL="10160" algn="ctr">
                        <a:lnSpc>
                          <a:spcPct val="100000"/>
                        </a:lnSpc>
                        <a:spcBef>
                          <a:spcPts val="1735"/>
                        </a:spcBef>
                      </a:pPr>
                      <a:r>
                        <a:rPr lang="en-US" sz="1700" spc="155">
                          <a:latin typeface="Times New Roman"/>
                          <a:cs typeface="Times New Roman"/>
                        </a:rPr>
                        <a:t>Sept/Oct</a:t>
                      </a:r>
                      <a:endParaRPr sz="1700" spc="155" dirty="0">
                        <a:latin typeface="Times New Roman"/>
                        <a:cs typeface="Times New Roman"/>
                      </a:endParaRPr>
                    </a:p>
                  </a:txBody>
                  <a:tcPr marL="0" marR="0" marT="22034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marL="8890" algn="ctr">
                        <a:lnSpc>
                          <a:spcPct val="100000"/>
                        </a:lnSpc>
                        <a:spcBef>
                          <a:spcPts val="1735"/>
                        </a:spcBef>
                      </a:pPr>
                      <a:r>
                        <a:rPr lang="en-US" sz="1700" spc="80">
                          <a:latin typeface="Times New Roman"/>
                          <a:cs typeface="Times New Roman"/>
                        </a:rPr>
                        <a:t>Nov/Dec</a:t>
                      </a:r>
                      <a:endParaRPr sz="1700" spc="80" dirty="0">
                        <a:latin typeface="Times New Roman"/>
                        <a:cs typeface="Times New Roman"/>
                      </a:endParaRPr>
                    </a:p>
                  </a:txBody>
                  <a:tcPr marL="0" marR="0" marT="22034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marL="7620" algn="ctr">
                        <a:lnSpc>
                          <a:spcPct val="100000"/>
                        </a:lnSpc>
                        <a:spcBef>
                          <a:spcPts val="1735"/>
                        </a:spcBef>
                      </a:pPr>
                      <a:r>
                        <a:rPr lang="en-US" sz="1700" spc="160">
                          <a:latin typeface="Times New Roman"/>
                          <a:cs typeface="Times New Roman"/>
                        </a:rPr>
                        <a:t>Jan</a:t>
                      </a:r>
                      <a:endParaRPr sz="1700" dirty="0">
                        <a:latin typeface="Times New Roman" panose="02020603050405020304" pitchFamily="18" charset="0"/>
                        <a:cs typeface="Times New Roman" panose="02020603050405020304" pitchFamily="18" charset="0"/>
                      </a:endParaRPr>
                    </a:p>
                  </a:txBody>
                  <a:tcPr marL="0" marR="0" marT="22034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marL="18415" algn="ctr">
                        <a:lnSpc>
                          <a:spcPct val="100000"/>
                        </a:lnSpc>
                        <a:spcBef>
                          <a:spcPts val="1735"/>
                        </a:spcBef>
                      </a:pPr>
                      <a:r>
                        <a:rPr lang="en-US" sz="1700" spc="114">
                          <a:latin typeface="Times New Roman"/>
                          <a:cs typeface="Times New Roman"/>
                        </a:rPr>
                        <a:t>Feb</a:t>
                      </a:r>
                      <a:endParaRPr sz="1700" dirty="0">
                        <a:latin typeface="Times New Roman" panose="02020603050405020304" pitchFamily="18" charset="0"/>
                        <a:cs typeface="Times New Roman" panose="02020603050405020304" pitchFamily="18" charset="0"/>
                      </a:endParaRPr>
                    </a:p>
                  </a:txBody>
                  <a:tcPr marL="0" marR="0" marT="22034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marL="21590" algn="ctr">
                        <a:lnSpc>
                          <a:spcPct val="100000"/>
                        </a:lnSpc>
                        <a:spcBef>
                          <a:spcPts val="1735"/>
                        </a:spcBef>
                      </a:pPr>
                      <a:r>
                        <a:rPr lang="en-US" sz="1700" spc="190">
                          <a:latin typeface="Times New Roman"/>
                          <a:cs typeface="Times New Roman"/>
                        </a:rPr>
                        <a:t>March</a:t>
                      </a:r>
                      <a:endParaRPr sz="1700" dirty="0">
                        <a:latin typeface="Times New Roman" panose="02020603050405020304" pitchFamily="18" charset="0"/>
                        <a:cs typeface="Times New Roman" panose="02020603050405020304" pitchFamily="18" charset="0"/>
                      </a:endParaRPr>
                    </a:p>
                  </a:txBody>
                  <a:tcPr marL="0" marR="0" marT="22034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extLst>
                  <a:ext uri="{0D108BD9-81ED-4DB2-BD59-A6C34878D82A}">
                    <a16:rowId xmlns:a16="http://schemas.microsoft.com/office/drawing/2014/main" val="10000"/>
                  </a:ext>
                </a:extLst>
              </a:tr>
              <a:tr h="544940">
                <a:tc>
                  <a:txBody>
                    <a:bodyPr/>
                    <a:lstStyle/>
                    <a:p>
                      <a:pPr marL="85725" marR="650240">
                        <a:lnSpc>
                          <a:spcPts val="2030"/>
                        </a:lnSpc>
                        <a:spcBef>
                          <a:spcPts val="385"/>
                        </a:spcBef>
                      </a:pPr>
                      <a:r>
                        <a:rPr sz="1700" spc="75" dirty="0">
                          <a:latin typeface="Times New Roman" panose="02020603050405020304" pitchFamily="18" charset="0"/>
                          <a:cs typeface="Times New Roman" panose="02020603050405020304" pitchFamily="18" charset="0"/>
                        </a:rPr>
                        <a:t>Topic Selection</a:t>
                      </a:r>
                      <a:endParaRPr sz="1700" dirty="0">
                        <a:latin typeface="Times New Roman" panose="02020603050405020304" pitchFamily="18" charset="0"/>
                        <a:cs typeface="Times New Roman" panose="02020603050405020304" pitchFamily="18" charset="0"/>
                      </a:endParaRPr>
                    </a:p>
                  </a:txBody>
                  <a:tcPr marL="0" marR="0" marT="4889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marL="0" marR="0" lvl="0" indent="0" algn="ctr" rtl="0">
                        <a:spcBef>
                          <a:spcPts val="0"/>
                        </a:spcBef>
                        <a:spcAft>
                          <a:spcPts val="0"/>
                        </a:spcAft>
                        <a:buClr>
                          <a:schemeClr val="dk1"/>
                        </a:buClr>
                        <a:buSzPts val="1700"/>
                        <a:buFont typeface="Century Gothic"/>
                        <a:buNone/>
                      </a:pPr>
                      <a:r>
                        <a:rPr lang="en-US" sz="1700" b="1" dirty="0">
                          <a:solidFill>
                            <a:schemeClr val="tx1"/>
                          </a:solidFill>
                          <a:latin typeface="Times New Roman" panose="02020603050405020304" pitchFamily="18" charset="0"/>
                          <a:cs typeface="Times New Roman" panose="02020603050405020304" pitchFamily="18" charset="0"/>
                        </a:rPr>
                        <a:t>Done</a:t>
                      </a:r>
                      <a:endParaRPr lang="en-US" sz="1600" b="1" dirty="0">
                        <a:solidFill>
                          <a:schemeClr val="tx1"/>
                        </a:solidFill>
                        <a:latin typeface="Times New Roman" panose="02020603050405020304" pitchFamily="18" charset="0"/>
                        <a:cs typeface="Times New Roman" panose="02020603050405020304" pitchFamily="18" charset="0"/>
                      </a:endParaRPr>
                    </a:p>
                  </a:txBody>
                  <a:tcPr marL="0" marR="0" marT="16827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extLst>
                  <a:ext uri="{0D108BD9-81ED-4DB2-BD59-A6C34878D82A}">
                    <a16:rowId xmlns:a16="http://schemas.microsoft.com/office/drawing/2014/main" val="10001"/>
                  </a:ext>
                </a:extLst>
              </a:tr>
              <a:tr h="544940">
                <a:tc>
                  <a:txBody>
                    <a:bodyPr/>
                    <a:lstStyle/>
                    <a:p>
                      <a:pPr marL="85725">
                        <a:lnSpc>
                          <a:spcPts val="2035"/>
                        </a:lnSpc>
                        <a:spcBef>
                          <a:spcPts val="315"/>
                        </a:spcBef>
                      </a:pPr>
                      <a:r>
                        <a:rPr sz="1700" spc="-10" dirty="0">
                          <a:latin typeface="Times New Roman" panose="02020603050405020304" pitchFamily="18" charset="0"/>
                          <a:cs typeface="Times New Roman" panose="02020603050405020304" pitchFamily="18" charset="0"/>
                        </a:rPr>
                        <a:t>Literature</a:t>
                      </a:r>
                      <a:endParaRPr sz="1700" dirty="0">
                        <a:latin typeface="Times New Roman" panose="02020603050405020304" pitchFamily="18" charset="0"/>
                        <a:cs typeface="Times New Roman" panose="02020603050405020304" pitchFamily="18" charset="0"/>
                      </a:endParaRPr>
                    </a:p>
                    <a:p>
                      <a:pPr marL="85725">
                        <a:lnSpc>
                          <a:spcPts val="2035"/>
                        </a:lnSpc>
                      </a:pPr>
                      <a:r>
                        <a:rPr sz="1700" spc="-10" dirty="0">
                          <a:latin typeface="Times New Roman" panose="02020603050405020304" pitchFamily="18" charset="0"/>
                          <a:cs typeface="Times New Roman" panose="02020603050405020304" pitchFamily="18" charset="0"/>
                        </a:rPr>
                        <a:t>Survey</a:t>
                      </a:r>
                      <a:endParaRPr sz="1700" dirty="0">
                        <a:latin typeface="Times New Roman" panose="02020603050405020304" pitchFamily="18" charset="0"/>
                        <a:cs typeface="Times New Roman" panose="02020603050405020304" pitchFamily="18" charset="0"/>
                      </a:endParaRPr>
                    </a:p>
                  </a:txBody>
                  <a:tcPr marL="0" marR="0" marT="4000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marL="0" marR="0" lvl="0" indent="0" algn="ctr" rtl="0">
                        <a:spcBef>
                          <a:spcPts val="0"/>
                        </a:spcBef>
                        <a:spcAft>
                          <a:spcPts val="0"/>
                        </a:spcAft>
                        <a:buClr>
                          <a:schemeClr val="dk1"/>
                        </a:buClr>
                        <a:buSzPts val="1700"/>
                        <a:buFont typeface="Century Gothic"/>
                        <a:buNone/>
                      </a:pPr>
                      <a:endParaRPr lang="en-US" sz="1700" b="1" dirty="0">
                        <a:solidFill>
                          <a:schemeClr val="tx1"/>
                        </a:solidFill>
                        <a:latin typeface="Times New Roman"/>
                        <a:cs typeface="Times New Roman"/>
                      </a:endParaRPr>
                    </a:p>
                  </a:txBody>
                  <a:tcPr marL="0" marR="0" marT="16954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marL="0" marR="0" lvl="0" indent="0" algn="ctr" rtl="0">
                        <a:spcBef>
                          <a:spcPts val="0"/>
                        </a:spcBef>
                        <a:spcAft>
                          <a:spcPts val="0"/>
                        </a:spcAft>
                        <a:buClr>
                          <a:schemeClr val="dk1"/>
                        </a:buClr>
                        <a:buSzPts val="1700"/>
                        <a:buFont typeface="Century Gothic"/>
                        <a:buNone/>
                      </a:pPr>
                      <a:r>
                        <a:rPr lang="en-US" sz="1600" b="1">
                          <a:solidFill>
                            <a:schemeClr val="tx1"/>
                          </a:solidFill>
                          <a:latin typeface="Times New Roman"/>
                          <a:cs typeface="Times New Roman"/>
                        </a:rPr>
                        <a:t>Done</a:t>
                      </a:r>
                      <a:endParaRPr lang="en-US" sz="1600" b="1" dirty="0">
                        <a:solidFill>
                          <a:schemeClr val="tx1"/>
                        </a:solidFill>
                        <a:latin typeface="Times New Roman" panose="02020603050405020304" pitchFamily="18" charset="0"/>
                        <a:cs typeface="Times New Roman" panose="02020603050405020304" pitchFamily="18" charset="0"/>
                      </a:endParaRPr>
                    </a:p>
                  </a:txBody>
                  <a:tcPr marL="0" marR="0" marT="16954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extLst>
                  <a:ext uri="{0D108BD9-81ED-4DB2-BD59-A6C34878D82A}">
                    <a16:rowId xmlns:a16="http://schemas.microsoft.com/office/drawing/2014/main" val="10002"/>
                  </a:ext>
                </a:extLst>
              </a:tr>
              <a:tr h="544940">
                <a:tc>
                  <a:txBody>
                    <a:bodyPr/>
                    <a:lstStyle/>
                    <a:p>
                      <a:pPr marL="85725" marR="631190">
                        <a:lnSpc>
                          <a:spcPts val="2030"/>
                        </a:lnSpc>
                        <a:spcBef>
                          <a:spcPts val="395"/>
                        </a:spcBef>
                      </a:pPr>
                      <a:r>
                        <a:rPr sz="1700" spc="85" dirty="0">
                          <a:latin typeface="Times New Roman" panose="02020603050405020304" pitchFamily="18" charset="0"/>
                          <a:cs typeface="Times New Roman" panose="02020603050405020304" pitchFamily="18" charset="0"/>
                        </a:rPr>
                        <a:t>Problem </a:t>
                      </a:r>
                      <a:r>
                        <a:rPr sz="1700" spc="40" dirty="0">
                          <a:latin typeface="Times New Roman" panose="02020603050405020304" pitchFamily="18" charset="0"/>
                          <a:cs typeface="Times New Roman" panose="02020603050405020304" pitchFamily="18" charset="0"/>
                        </a:rPr>
                        <a:t>Definition</a:t>
                      </a:r>
                      <a:endParaRPr sz="1700" dirty="0">
                        <a:latin typeface="Times New Roman" panose="02020603050405020304" pitchFamily="18" charset="0"/>
                        <a:cs typeface="Times New Roman" panose="02020603050405020304" pitchFamily="18" charset="0"/>
                      </a:endParaRPr>
                    </a:p>
                  </a:txBody>
                  <a:tcPr marL="0" marR="0" marT="5016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marL="0" marR="0" lvl="0" indent="0" algn="ctr" rtl="0">
                        <a:spcBef>
                          <a:spcPts val="0"/>
                        </a:spcBef>
                        <a:spcAft>
                          <a:spcPts val="0"/>
                        </a:spcAft>
                        <a:buClr>
                          <a:schemeClr val="dk1"/>
                        </a:buClr>
                        <a:buSzPts val="1700"/>
                        <a:buFont typeface="Century Gothic"/>
                        <a:buNone/>
                      </a:pPr>
                      <a:r>
                        <a:rPr lang="en-US" sz="1700" b="1" dirty="0">
                          <a:solidFill>
                            <a:schemeClr val="tx1"/>
                          </a:solidFill>
                          <a:latin typeface="Times New Roman" panose="02020603050405020304" pitchFamily="18" charset="0"/>
                          <a:cs typeface="Times New Roman" panose="02020603050405020304" pitchFamily="18" charset="0"/>
                        </a:rPr>
                        <a:t>Done</a:t>
                      </a:r>
                      <a:endParaRPr lang="en-US" sz="1600" b="1" dirty="0">
                        <a:solidFill>
                          <a:schemeClr val="tx1"/>
                        </a:solidFill>
                        <a:latin typeface="Times New Roman" panose="02020603050405020304" pitchFamily="18" charset="0"/>
                        <a:cs typeface="Times New Roman" panose="02020603050405020304" pitchFamily="18" charset="0"/>
                      </a:endParaRPr>
                    </a:p>
                  </a:txBody>
                  <a:tcPr marL="0" marR="0" marT="17081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extLst>
                  <a:ext uri="{0D108BD9-81ED-4DB2-BD59-A6C34878D82A}">
                    <a16:rowId xmlns:a16="http://schemas.microsoft.com/office/drawing/2014/main" val="10003"/>
                  </a:ext>
                </a:extLst>
              </a:tr>
              <a:tr h="768652">
                <a:tc>
                  <a:txBody>
                    <a:bodyPr/>
                    <a:lstStyle/>
                    <a:p>
                      <a:pPr marL="85725" marR="189865">
                        <a:lnSpc>
                          <a:spcPts val="2030"/>
                        </a:lnSpc>
                        <a:spcBef>
                          <a:spcPts val="1380"/>
                        </a:spcBef>
                      </a:pPr>
                      <a:r>
                        <a:rPr sz="1700" spc="125" dirty="0">
                          <a:latin typeface="Times New Roman" panose="02020603050405020304" pitchFamily="18" charset="0"/>
                          <a:cs typeface="Times New Roman" panose="02020603050405020304" pitchFamily="18" charset="0"/>
                        </a:rPr>
                        <a:t>Methodology </a:t>
                      </a:r>
                      <a:r>
                        <a:rPr sz="1700" spc="55" dirty="0">
                          <a:latin typeface="Times New Roman" panose="02020603050405020304" pitchFamily="18" charset="0"/>
                          <a:cs typeface="Times New Roman" panose="02020603050405020304" pitchFamily="18" charset="0"/>
                        </a:rPr>
                        <a:t>Design</a:t>
                      </a:r>
                      <a:endParaRPr sz="1700" dirty="0">
                        <a:latin typeface="Times New Roman" panose="02020603050405020304" pitchFamily="18" charset="0"/>
                        <a:cs typeface="Times New Roman" panose="02020603050405020304" pitchFamily="18" charset="0"/>
                      </a:endParaRPr>
                    </a:p>
                  </a:txBody>
                  <a:tcPr marL="0" marR="0" marT="17526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gn="ctr">
                        <a:lnSpc>
                          <a:spcPct val="100000"/>
                        </a:lnSpc>
                        <a:spcBef>
                          <a:spcPts val="370"/>
                        </a:spcBef>
                      </a:pPr>
                      <a:endParaRPr sz="1700" b="1" dirty="0">
                        <a:latin typeface="Times New Roman"/>
                        <a:cs typeface="Times New Roman"/>
                      </a:endParaRPr>
                    </a:p>
                  </a:txBody>
                  <a:tcPr marL="0" marR="0" marT="4699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lvl="0" algn="ctr">
                        <a:lnSpc>
                          <a:spcPct val="100000"/>
                        </a:lnSpc>
                        <a:spcBef>
                          <a:spcPts val="370"/>
                        </a:spcBef>
                        <a:buNone/>
                      </a:pPr>
                      <a:r>
                        <a:rPr lang="en-US" sz="1700" b="1">
                          <a:latin typeface="Times New Roman"/>
                          <a:cs typeface="Times New Roman"/>
                        </a:rPr>
                        <a:t>Done</a:t>
                      </a:r>
                      <a:endParaRPr sz="1700" b="1">
                        <a:latin typeface="Times New Roman"/>
                        <a:cs typeface="Times New Roman"/>
                      </a:endParaRPr>
                    </a:p>
                  </a:txBody>
                  <a:tcPr marL="0" marR="0" marT="4699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a:cs typeface="Times New Roman"/>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extLst>
                  <a:ext uri="{0D108BD9-81ED-4DB2-BD59-A6C34878D82A}">
                    <a16:rowId xmlns:a16="http://schemas.microsoft.com/office/drawing/2014/main" val="10004"/>
                  </a:ext>
                </a:extLst>
              </a:tr>
              <a:tr h="1170186">
                <a:tc>
                  <a:txBody>
                    <a:bodyPr/>
                    <a:lstStyle/>
                    <a:p>
                      <a:pPr marL="85725" marR="393065">
                        <a:lnSpc>
                          <a:spcPct val="101200"/>
                        </a:lnSpc>
                        <a:spcBef>
                          <a:spcPts val="315"/>
                        </a:spcBef>
                      </a:pPr>
                      <a:r>
                        <a:rPr sz="1700" spc="50" dirty="0">
                          <a:latin typeface="Times New Roman" panose="02020603050405020304" pitchFamily="18" charset="0"/>
                          <a:cs typeface="Times New Roman" panose="02020603050405020304" pitchFamily="18" charset="0"/>
                        </a:rPr>
                        <a:t>Simulation</a:t>
                      </a:r>
                      <a:r>
                        <a:rPr sz="1700" spc="-75" dirty="0">
                          <a:latin typeface="Times New Roman" panose="02020603050405020304" pitchFamily="18" charset="0"/>
                          <a:cs typeface="Times New Roman" panose="02020603050405020304" pitchFamily="18" charset="0"/>
                        </a:rPr>
                        <a:t> </a:t>
                      </a:r>
                      <a:r>
                        <a:rPr sz="1700" spc="50" dirty="0">
                          <a:latin typeface="Times New Roman" panose="02020603050405020304" pitchFamily="18" charset="0"/>
                          <a:cs typeface="Times New Roman" panose="02020603050405020304" pitchFamily="18" charset="0"/>
                        </a:rPr>
                        <a:t>/ </a:t>
                      </a:r>
                      <a:r>
                        <a:rPr sz="1700" spc="130" dirty="0">
                          <a:latin typeface="Times New Roman" panose="02020603050405020304" pitchFamily="18" charset="0"/>
                          <a:cs typeface="Times New Roman" panose="02020603050405020304" pitchFamily="18" charset="0"/>
                        </a:rPr>
                        <a:t>Modeling</a:t>
                      </a:r>
                      <a:r>
                        <a:rPr sz="1700" spc="-110" dirty="0">
                          <a:latin typeface="Times New Roman" panose="02020603050405020304" pitchFamily="18" charset="0"/>
                          <a:cs typeface="Times New Roman" panose="02020603050405020304" pitchFamily="18" charset="0"/>
                        </a:rPr>
                        <a:t> </a:t>
                      </a:r>
                      <a:r>
                        <a:rPr sz="1700" spc="50" dirty="0">
                          <a:latin typeface="Times New Roman" panose="02020603050405020304" pitchFamily="18" charset="0"/>
                          <a:cs typeface="Times New Roman" panose="02020603050405020304" pitchFamily="18" charset="0"/>
                        </a:rPr>
                        <a:t>/ </a:t>
                      </a:r>
                      <a:r>
                        <a:rPr sz="1700" spc="100" dirty="0">
                          <a:latin typeface="Times New Roman" panose="02020603050405020304" pitchFamily="18" charset="0"/>
                          <a:cs typeface="Times New Roman" panose="02020603050405020304" pitchFamily="18" charset="0"/>
                        </a:rPr>
                        <a:t>Hardware</a:t>
                      </a:r>
                      <a:endParaRPr sz="1700" dirty="0">
                        <a:latin typeface="Times New Roman" panose="02020603050405020304" pitchFamily="18" charset="0"/>
                        <a:cs typeface="Times New Roman" panose="02020603050405020304" pitchFamily="18" charset="0"/>
                      </a:endParaRPr>
                    </a:p>
                  </a:txBody>
                  <a:tcPr marL="0" marR="0" marT="4000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spcBef>
                          <a:spcPts val="425"/>
                        </a:spcBef>
                      </a:pPr>
                      <a:endParaRPr lang="en-US" sz="1600" b="1" dirty="0">
                        <a:solidFill>
                          <a:schemeClr val="tx1"/>
                        </a:solidFill>
                        <a:latin typeface="Times New Roman" panose="02020603050405020304" pitchFamily="18" charset="0"/>
                        <a:cs typeface="Times New Roman" panose="02020603050405020304" pitchFamily="18" charset="0"/>
                      </a:endParaRPr>
                    </a:p>
                  </a:txBody>
                  <a:tcPr marL="0" marR="0" marT="5397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gn="ctr">
                        <a:lnSpc>
                          <a:spcPct val="100000"/>
                        </a:lnSpc>
                        <a:spcBef>
                          <a:spcPts val="425"/>
                        </a:spcBef>
                      </a:pPr>
                      <a:r>
                        <a:rPr lang="en-US" sz="1600" b="1">
                          <a:solidFill>
                            <a:schemeClr val="tx1"/>
                          </a:solidFill>
                          <a:latin typeface="Times New Roman"/>
                          <a:cs typeface="Times New Roman"/>
                        </a:rPr>
                        <a:t>70% Done</a:t>
                      </a:r>
                      <a:endParaRPr lang="en-US" sz="1600" b="1" dirty="0">
                        <a:solidFill>
                          <a:schemeClr val="tx1"/>
                        </a:solidFill>
                        <a:latin typeface="Times New Roman" panose="02020603050405020304" pitchFamily="18" charset="0"/>
                        <a:cs typeface="Times New Roman" panose="02020603050405020304" pitchFamily="18" charset="0"/>
                      </a:endParaRPr>
                    </a:p>
                  </a:txBody>
                  <a:tcPr marL="0" marR="0" marT="53975"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gn="ctr">
                        <a:lnSpc>
                          <a:spcPct val="100000"/>
                        </a:lnSpc>
                      </a:pPr>
                      <a:r>
                        <a:rPr lang="en-US" sz="1700" dirty="0">
                          <a:latin typeface="Times New Roman"/>
                          <a:cs typeface="Times New Roman"/>
                        </a:rPr>
                        <a:t>                 </a:t>
                      </a:r>
                      <a:r>
                        <a:rPr lang="en-US" sz="1700" b="1" dirty="0">
                          <a:latin typeface="Times New Roman"/>
                          <a:cs typeface="Times New Roman"/>
                        </a:rPr>
                        <a:t> </a:t>
                      </a:r>
                      <a:r>
                        <a:rPr lang="en-US" sz="1700" b="1">
                          <a:latin typeface="Times New Roman"/>
                          <a:cs typeface="Times New Roman"/>
                        </a:rPr>
                        <a:t>95% done</a:t>
                      </a:r>
                      <a:endParaRPr sz="1700" b="1" dirty="0">
                        <a:latin typeface="Times New Roman"/>
                        <a:cs typeface="Times New Roman"/>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extLst>
                  <a:ext uri="{0D108BD9-81ED-4DB2-BD59-A6C34878D82A}">
                    <a16:rowId xmlns:a16="http://schemas.microsoft.com/office/drawing/2014/main" val="10005"/>
                  </a:ext>
                </a:extLst>
              </a:tr>
              <a:tr h="768652">
                <a:tc>
                  <a:txBody>
                    <a:bodyPr/>
                    <a:lstStyle/>
                    <a:p>
                      <a:pPr marL="85725">
                        <a:lnSpc>
                          <a:spcPts val="2035"/>
                        </a:lnSpc>
                        <a:spcBef>
                          <a:spcPts val="1320"/>
                        </a:spcBef>
                      </a:pPr>
                      <a:r>
                        <a:rPr sz="1700" spc="85" dirty="0">
                          <a:latin typeface="Times New Roman" panose="02020603050405020304" pitchFamily="18" charset="0"/>
                          <a:cs typeface="Times New Roman" panose="02020603050405020304" pitchFamily="18" charset="0"/>
                        </a:rPr>
                        <a:t>Report</a:t>
                      </a:r>
                      <a:r>
                        <a:rPr sz="1700" spc="-55" dirty="0">
                          <a:latin typeface="Times New Roman" panose="02020603050405020304" pitchFamily="18" charset="0"/>
                          <a:cs typeface="Times New Roman" panose="02020603050405020304" pitchFamily="18" charset="0"/>
                        </a:rPr>
                        <a:t> </a:t>
                      </a:r>
                      <a:r>
                        <a:rPr sz="1700" spc="-10" dirty="0">
                          <a:latin typeface="Times New Roman" panose="02020603050405020304" pitchFamily="18" charset="0"/>
                          <a:cs typeface="Times New Roman" panose="02020603050405020304" pitchFamily="18" charset="0"/>
                        </a:rPr>
                        <a:t>Writing</a:t>
                      </a:r>
                      <a:endParaRPr sz="1700" dirty="0">
                        <a:latin typeface="Times New Roman" panose="02020603050405020304" pitchFamily="18" charset="0"/>
                        <a:cs typeface="Times New Roman" panose="02020603050405020304" pitchFamily="18" charset="0"/>
                      </a:endParaRPr>
                    </a:p>
                    <a:p>
                      <a:pPr marL="85725">
                        <a:lnSpc>
                          <a:spcPts val="2035"/>
                        </a:lnSpc>
                      </a:pPr>
                      <a:r>
                        <a:rPr sz="1700" spc="35" dirty="0">
                          <a:latin typeface="Times New Roman" panose="02020603050405020304" pitchFamily="18" charset="0"/>
                          <a:cs typeface="Times New Roman" panose="02020603050405020304" pitchFamily="18" charset="0"/>
                        </a:rPr>
                        <a:t>(Phase–</a:t>
                      </a:r>
                      <a:r>
                        <a:rPr lang="en-US" sz="1700" spc="35" dirty="0">
                          <a:latin typeface="Times New Roman" panose="02020603050405020304" pitchFamily="18" charset="0"/>
                          <a:cs typeface="Times New Roman" panose="02020603050405020304" pitchFamily="18" charset="0"/>
                        </a:rPr>
                        <a:t>2)</a:t>
                      </a:r>
                      <a:endParaRPr sz="1700" dirty="0">
                        <a:latin typeface="Times New Roman" panose="02020603050405020304" pitchFamily="18" charset="0"/>
                        <a:cs typeface="Times New Roman" panose="02020603050405020304" pitchFamily="18" charset="0"/>
                      </a:endParaRPr>
                    </a:p>
                  </a:txBody>
                  <a:tcPr marL="0" marR="0" marT="16764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pPr>
                      <a:endParaRPr sz="1700" dirty="0">
                        <a:latin typeface="Times New Roman" panose="02020603050405020304" pitchFamily="18" charset="0"/>
                        <a:cs typeface="Times New Roman" panose="02020603050405020304" pitchFamily="18" charset="0"/>
                      </a:endParaRPr>
                    </a:p>
                  </a:txBody>
                  <a:tcPr marL="0" marR="0" marT="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nSpc>
                          <a:spcPct val="100000"/>
                        </a:lnSpc>
                        <a:spcBef>
                          <a:spcPts val="390"/>
                        </a:spcBef>
                      </a:pPr>
                      <a:endParaRPr lang="en-US" sz="1600" b="1" dirty="0">
                        <a:solidFill>
                          <a:schemeClr val="tx1"/>
                        </a:solidFill>
                        <a:latin typeface="Times New Roman" panose="02020603050405020304" pitchFamily="18" charset="0"/>
                        <a:cs typeface="Times New Roman" panose="02020603050405020304" pitchFamily="18" charset="0"/>
                      </a:endParaRPr>
                    </a:p>
                  </a:txBody>
                  <a:tcPr marL="0" marR="0" marT="4953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tc>
                  <a:txBody>
                    <a:bodyPr/>
                    <a:lstStyle/>
                    <a:p>
                      <a:pPr algn="ctr">
                        <a:lnSpc>
                          <a:spcPct val="100000"/>
                        </a:lnSpc>
                        <a:spcBef>
                          <a:spcPts val="390"/>
                        </a:spcBef>
                      </a:pPr>
                      <a:r>
                        <a:rPr lang="en-US" sz="1700" b="1">
                          <a:latin typeface="Times New Roman"/>
                          <a:cs typeface="Times New Roman"/>
                        </a:rPr>
                        <a:t>Done</a:t>
                      </a:r>
                      <a:endParaRPr sz="1700" b="1">
                        <a:latin typeface="Times New Roman"/>
                        <a:cs typeface="Times New Roman"/>
                      </a:endParaRPr>
                    </a:p>
                  </a:txBody>
                  <a:tcPr marL="0" marR="0" marT="49530" marB="0">
                    <a:lnL w="12700">
                      <a:solidFill>
                        <a:srgbClr val="797A7D"/>
                      </a:solidFill>
                      <a:prstDash val="solid"/>
                    </a:lnL>
                    <a:lnR w="12700">
                      <a:solidFill>
                        <a:srgbClr val="797A7D"/>
                      </a:solidFill>
                      <a:prstDash val="solid"/>
                    </a:lnR>
                    <a:lnT w="12700">
                      <a:solidFill>
                        <a:srgbClr val="797A7D"/>
                      </a:solidFill>
                      <a:prstDash val="solid"/>
                    </a:lnT>
                    <a:lnB w="12700">
                      <a:solidFill>
                        <a:srgbClr val="797A7D"/>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84833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60" dirty="0"/>
              <a:t>Team</a:t>
            </a:r>
            <a:r>
              <a:rPr spc="45" dirty="0"/>
              <a:t> </a:t>
            </a:r>
            <a:r>
              <a:rPr spc="65" dirty="0"/>
              <a:t>Role</a:t>
            </a:r>
            <a:r>
              <a:rPr spc="70" dirty="0"/>
              <a:t> </a:t>
            </a:r>
            <a:r>
              <a:rPr spc="35" dirty="0"/>
              <a:t>Distribution</a:t>
            </a:r>
          </a:p>
        </p:txBody>
      </p:sp>
      <p:sp>
        <p:nvSpPr>
          <p:cNvPr id="3" name="object 3"/>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23</a:t>
            </a:fld>
            <a:endParaRPr spc="-25" dirty="0"/>
          </a:p>
        </p:txBody>
      </p:sp>
      <p:sp>
        <p:nvSpPr>
          <p:cNvPr id="5" name="object 5"/>
          <p:cNvSpPr txBox="1">
            <a:spLocks noGrp="1"/>
          </p:cNvSpPr>
          <p:nvPr>
            <p:ph type="dt" sz="half" idx="6"/>
          </p:nvPr>
        </p:nvSpPr>
        <p:spPr>
          <a:prstGeom prst="rect">
            <a:avLst/>
          </a:prstGeom>
        </p:spPr>
        <p:txBody>
          <a:bodyPr vert="horz" wrap="square" lIns="0" tIns="73669" rIns="0" bIns="0" rtlCol="0">
            <a:spAutoFit/>
          </a:bodyPr>
          <a:lstStyle/>
          <a:p>
            <a:pPr marL="430530">
              <a:lnSpc>
                <a:spcPct val="100000"/>
              </a:lnSpc>
              <a:spcBef>
                <a:spcPts val="85"/>
              </a:spcBef>
            </a:pPr>
            <a:r>
              <a:rPr spc="95" dirty="0"/>
              <a:t>Department</a:t>
            </a:r>
            <a:r>
              <a:rPr spc="-85" dirty="0"/>
              <a:t> </a:t>
            </a:r>
            <a:r>
              <a:rPr spc="60" dirty="0"/>
              <a:t>of</a:t>
            </a:r>
            <a:r>
              <a:rPr spc="-40" dirty="0"/>
              <a:t> </a:t>
            </a:r>
            <a:r>
              <a:rPr spc="-25" dirty="0"/>
              <a:t>EEE</a:t>
            </a:r>
          </a:p>
        </p:txBody>
      </p:sp>
      <p:sp>
        <p:nvSpPr>
          <p:cNvPr id="6" name="TextBox 5">
            <a:extLst>
              <a:ext uri="{FF2B5EF4-FFF2-40B4-BE49-F238E27FC236}">
                <a16:creationId xmlns:a16="http://schemas.microsoft.com/office/drawing/2014/main" id="{C404D88E-83D3-E2B1-B6C6-E53960B95D69}"/>
              </a:ext>
            </a:extLst>
          </p:cNvPr>
          <p:cNvSpPr txBox="1"/>
          <p:nvPr/>
        </p:nvSpPr>
        <p:spPr>
          <a:xfrm>
            <a:off x="368172" y="1219200"/>
            <a:ext cx="8150225" cy="3366563"/>
          </a:xfrm>
          <a:prstGeom prst="rect">
            <a:avLst/>
          </a:prstGeom>
          <a:noFill/>
        </p:spPr>
        <p:txBody>
          <a:bodyPr wrap="square" lIns="91440" tIns="45720" rIns="91440" bIns="45720" rtlCol="0" anchor="t">
            <a:spAutoFit/>
          </a:bodyPr>
          <a:lstStyle/>
          <a:p>
            <a:pPr algn="just">
              <a:lnSpc>
                <a:spcPct val="150000"/>
              </a:lnSpc>
            </a:pPr>
            <a:r>
              <a:rPr lang="en-US" dirty="0">
                <a:latin typeface="Times New Roman"/>
                <a:cs typeface="Times New Roman"/>
              </a:rPr>
              <a:t>The project work was successfully carried out through effective coordination among all team members. </a:t>
            </a:r>
            <a:endParaRPr lang="en-IN" dirty="0">
              <a:latin typeface="Times New Roman"/>
              <a:cs typeface="Times New Roman"/>
            </a:endParaRPr>
          </a:p>
          <a:p>
            <a:pPr algn="just">
              <a:lnSpc>
                <a:spcPct val="150000"/>
              </a:lnSpc>
            </a:pPr>
            <a:r>
              <a:rPr lang="en-US" dirty="0">
                <a:latin typeface="Times New Roman"/>
                <a:cs typeface="Times New Roman"/>
              </a:rPr>
              <a:t>Deepti and Monika were responsible for the hardware connections, system implementation, and overall development of the prototype. </a:t>
            </a:r>
            <a:endParaRPr lang="en-IN" dirty="0">
              <a:latin typeface="Times New Roman"/>
              <a:cs typeface="Times New Roman"/>
            </a:endParaRPr>
          </a:p>
          <a:p>
            <a:pPr algn="just">
              <a:lnSpc>
                <a:spcPct val="150000"/>
              </a:lnSpc>
            </a:pPr>
            <a:r>
              <a:rPr lang="en-US" dirty="0">
                <a:latin typeface="Times New Roman"/>
                <a:cs typeface="Times New Roman"/>
              </a:rPr>
              <a:t>Harshitha handled the preparation of the PowerPoint presentation for the project. Srividya was responsible for compiling and preparing the detailed project report. Meghana B.S. was assigned the task of drafting and finalizing the conference paper related to the project.</a:t>
            </a:r>
            <a:endParaRPr lang="en-IN" dirty="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6510" rIns="0" bIns="0" rtlCol="0">
            <a:spAutoFit/>
          </a:bodyPr>
          <a:lstStyle/>
          <a:p>
            <a:pPr marL="12700">
              <a:lnSpc>
                <a:spcPct val="100000"/>
              </a:lnSpc>
              <a:spcBef>
                <a:spcPts val="130"/>
              </a:spcBef>
            </a:pPr>
            <a:r>
              <a:rPr spc="-10" dirty="0"/>
              <a:t>References</a:t>
            </a:r>
          </a:p>
        </p:txBody>
      </p:sp>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24</a:t>
            </a:fld>
            <a:endParaRPr spc="-25" dirty="0"/>
          </a:p>
        </p:txBody>
      </p:sp>
      <p:sp>
        <p:nvSpPr>
          <p:cNvPr id="6" name="object 6"/>
          <p:cNvSpPr txBox="1">
            <a:spLocks noGrp="1"/>
          </p:cNvSpPr>
          <p:nvPr>
            <p:ph type="dt" sz="half" idx="6"/>
          </p:nvPr>
        </p:nvSpPr>
        <p:spPr>
          <a:prstGeom prst="rect">
            <a:avLst/>
          </a:prstGeom>
        </p:spPr>
        <p:txBody>
          <a:bodyPr vert="horz" wrap="square" lIns="0" tIns="73669" rIns="0" bIns="0" rtlCol="0">
            <a:spAutoFit/>
          </a:bodyPr>
          <a:lstStyle/>
          <a:p>
            <a:pPr marL="430530">
              <a:lnSpc>
                <a:spcPct val="100000"/>
              </a:lnSpc>
              <a:spcBef>
                <a:spcPts val="85"/>
              </a:spcBef>
            </a:pPr>
            <a:r>
              <a:rPr spc="95" dirty="0"/>
              <a:t>Department</a:t>
            </a:r>
            <a:r>
              <a:rPr spc="-85" dirty="0"/>
              <a:t> </a:t>
            </a:r>
            <a:r>
              <a:rPr spc="60" dirty="0"/>
              <a:t>of</a:t>
            </a:r>
            <a:r>
              <a:rPr spc="-40" dirty="0"/>
              <a:t> </a:t>
            </a:r>
            <a:r>
              <a:rPr spc="-25" dirty="0"/>
              <a:t>EEE</a:t>
            </a:r>
          </a:p>
        </p:txBody>
      </p:sp>
      <p:sp>
        <p:nvSpPr>
          <p:cNvPr id="7" name="TextBox 6">
            <a:extLst>
              <a:ext uri="{FF2B5EF4-FFF2-40B4-BE49-F238E27FC236}">
                <a16:creationId xmlns:a16="http://schemas.microsoft.com/office/drawing/2014/main" id="{02902C97-61BD-E867-F6DA-7B222A478D10}"/>
              </a:ext>
            </a:extLst>
          </p:cNvPr>
          <p:cNvSpPr txBox="1"/>
          <p:nvPr/>
        </p:nvSpPr>
        <p:spPr>
          <a:xfrm>
            <a:off x="7239000" y="6450900"/>
            <a:ext cx="4572000" cy="307777"/>
          </a:xfrm>
          <a:prstGeom prst="rect">
            <a:avLst/>
          </a:prstGeom>
          <a:noFill/>
        </p:spPr>
        <p:txBody>
          <a:bodyPr wrap="square">
            <a:spAutoFit/>
          </a:bodyPr>
          <a:lstStyle/>
          <a:p>
            <a:r>
              <a:rPr lang="en-IN" sz="1400" dirty="0"/>
              <a:t>31/01/2026</a:t>
            </a:r>
          </a:p>
        </p:txBody>
      </p:sp>
      <p:sp>
        <p:nvSpPr>
          <p:cNvPr id="5" name="TextBox 4">
            <a:extLst>
              <a:ext uri="{FF2B5EF4-FFF2-40B4-BE49-F238E27FC236}">
                <a16:creationId xmlns:a16="http://schemas.microsoft.com/office/drawing/2014/main" id="{7E0A8972-7484-1577-DA9F-6067C70E9C47}"/>
              </a:ext>
            </a:extLst>
          </p:cNvPr>
          <p:cNvSpPr txBox="1"/>
          <p:nvPr/>
        </p:nvSpPr>
        <p:spPr>
          <a:xfrm>
            <a:off x="304800" y="1295400"/>
            <a:ext cx="8382000" cy="3693319"/>
          </a:xfrm>
          <a:prstGeom prst="rect">
            <a:avLst/>
          </a:prstGeom>
          <a:noFill/>
        </p:spPr>
        <p:txBody>
          <a:bodyPr wrap="square">
            <a:spAutoFit/>
          </a:bodyPr>
          <a:lstStyle/>
          <a:p>
            <a:pPr marL="342900" indent="-342900" algn="l">
              <a:buAutoNum type="arabicPeriod"/>
            </a:pPr>
            <a:r>
              <a:rPr lang="en-IN" dirty="0">
                <a:latin typeface="Times New Roman" panose="02020603050405020304" pitchFamily="18" charset="0"/>
                <a:cs typeface="Times New Roman" panose="02020603050405020304" pitchFamily="18" charset="0"/>
              </a:rPr>
              <a:t>K. A. Ibrahim, T. Le Maréchal, P. Luk, Q. Qin, L. Huang, Y. Xie, P. Verdin, and Z. Luo, “Floating solar wireless power transfer system for electric ships: Design and laboratory tests,” Energy Conversion and Management, vol. 332, Article 119738, 2025.</a:t>
            </a:r>
          </a:p>
          <a:p>
            <a:pPr marL="342900" indent="-342900" algn="l">
              <a:buAutoNum type="arabicPeriod"/>
            </a:pPr>
            <a:r>
              <a:rPr lang="en-IN" dirty="0">
                <a:latin typeface="Times New Roman" panose="02020603050405020304" pitchFamily="18" charset="0"/>
                <a:cs typeface="Times New Roman" panose="02020603050405020304" pitchFamily="18" charset="0"/>
              </a:rPr>
              <a:t>A. Author et al., “Comprehensive mathematical modelling and experimental analysis of a wireless power transfer system for neighbourhood electric vehicles,” IEEE Transactions on Transportation Electrification, pp. xx–xx, Year.</a:t>
            </a:r>
          </a:p>
          <a:p>
            <a:pPr marL="342900" indent="-342900" algn="l">
              <a:buAutoNum type="arabicPeriod"/>
            </a:pPr>
            <a:r>
              <a:rPr lang="en-US" dirty="0">
                <a:latin typeface="Times New Roman" panose="02020603050405020304" pitchFamily="18" charset="0"/>
                <a:cs typeface="Times New Roman" panose="02020603050405020304" pitchFamily="18" charset="0"/>
              </a:rPr>
              <a:t>B. Author et al., “Design and implementation of resonance-based wireless power transfer system,” International Journal of Power Electronics and Drive Systems, vol. xx, no. x, pp. xx–xx, Year.</a:t>
            </a:r>
          </a:p>
          <a:p>
            <a:pPr marL="342900" indent="-342900" algn="l">
              <a:buAutoNum type="arabicPeriod"/>
            </a:pPr>
            <a:r>
              <a:rPr lang="en-US" dirty="0">
                <a:latin typeface="Times New Roman" panose="02020603050405020304" pitchFamily="18" charset="0"/>
                <a:cs typeface="Times New Roman" panose="02020603050405020304" pitchFamily="18" charset="0"/>
              </a:rPr>
              <a:t>C. Author et al., “5-kW, 96.5% efficiency capacitive power transfer system with a five-plate coupler: Design and optimization,” IEEE Transactions on Power Electronics, vol. xx, no. x, pp. xx–xx, Year.</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9504" y="2312289"/>
            <a:ext cx="3982085" cy="1033144"/>
          </a:xfrm>
          <a:prstGeom prst="rect">
            <a:avLst/>
          </a:prstGeom>
        </p:spPr>
        <p:txBody>
          <a:bodyPr vert="horz" wrap="square" lIns="0" tIns="13970" rIns="0" bIns="0" rtlCol="0">
            <a:spAutoFit/>
          </a:bodyPr>
          <a:lstStyle/>
          <a:p>
            <a:pPr marL="12700">
              <a:lnSpc>
                <a:spcPct val="100000"/>
              </a:lnSpc>
              <a:spcBef>
                <a:spcPts val="110"/>
              </a:spcBef>
            </a:pPr>
            <a:r>
              <a:rPr sz="6000" b="1" spc="-295" dirty="0">
                <a:solidFill>
                  <a:srgbClr val="252525"/>
                </a:solidFill>
                <a:latin typeface="Cambria" panose="02040503050406030204" pitchFamily="18" charset="0"/>
                <a:ea typeface="Cambria" panose="02040503050406030204" pitchFamily="18" charset="0"/>
                <a:cs typeface="Tahoma"/>
              </a:rPr>
              <a:t>Thank</a:t>
            </a:r>
            <a:r>
              <a:rPr sz="6000" b="1" spc="-110" dirty="0">
                <a:solidFill>
                  <a:srgbClr val="252525"/>
                </a:solidFill>
                <a:latin typeface="Cambria" panose="02040503050406030204" pitchFamily="18" charset="0"/>
                <a:ea typeface="Cambria" panose="02040503050406030204" pitchFamily="18" charset="0"/>
                <a:cs typeface="Tahoma"/>
              </a:rPr>
              <a:t> </a:t>
            </a:r>
            <a:r>
              <a:rPr sz="6600" b="1" spc="-90" dirty="0">
                <a:solidFill>
                  <a:srgbClr val="252525"/>
                </a:solidFill>
                <a:latin typeface="Cambria" panose="02040503050406030204" pitchFamily="18" charset="0"/>
                <a:ea typeface="Cambria" panose="02040503050406030204" pitchFamily="18" charset="0"/>
                <a:cs typeface="Tahoma"/>
              </a:rPr>
              <a:t>You</a:t>
            </a:r>
            <a:endParaRPr sz="6600" dirty="0">
              <a:latin typeface="Cambria" panose="02040503050406030204" pitchFamily="18" charset="0"/>
              <a:ea typeface="Cambria" panose="02040503050406030204" pitchFamily="18" charset="0"/>
              <a:cs typeface="Tahoma"/>
            </a:endParaRPr>
          </a:p>
        </p:txBody>
      </p:sp>
      <p:sp>
        <p:nvSpPr>
          <p:cNvPr id="4" name="TextBox 3">
            <a:extLst>
              <a:ext uri="{FF2B5EF4-FFF2-40B4-BE49-F238E27FC236}">
                <a16:creationId xmlns:a16="http://schemas.microsoft.com/office/drawing/2014/main" id="{DFAECA33-4C62-A58A-37F7-97F94AE5AD95}"/>
              </a:ext>
            </a:extLst>
          </p:cNvPr>
          <p:cNvSpPr txBox="1"/>
          <p:nvPr/>
        </p:nvSpPr>
        <p:spPr>
          <a:xfrm>
            <a:off x="7086600" y="6466545"/>
            <a:ext cx="4572000" cy="307777"/>
          </a:xfrm>
          <a:prstGeom prst="rect">
            <a:avLst/>
          </a:prstGeom>
          <a:noFill/>
        </p:spPr>
        <p:txBody>
          <a:bodyPr wrap="square">
            <a:spAutoFit/>
          </a:bodyPr>
          <a:lstStyle/>
          <a:p>
            <a:r>
              <a:rPr lang="en-IN" sz="1400" dirty="0"/>
              <a:t>31/01/2026</a:t>
            </a:r>
          </a:p>
        </p:txBody>
      </p:sp>
      <p:sp>
        <p:nvSpPr>
          <p:cNvPr id="5" name="Slide Number Placeholder 4">
            <a:extLst>
              <a:ext uri="{FF2B5EF4-FFF2-40B4-BE49-F238E27FC236}">
                <a16:creationId xmlns:a16="http://schemas.microsoft.com/office/drawing/2014/main" id="{F0535010-2768-4060-34EB-6FAEA030444B}"/>
              </a:ext>
            </a:extLst>
          </p:cNvPr>
          <p:cNvSpPr>
            <a:spLocks noGrp="1"/>
          </p:cNvSpPr>
          <p:nvPr>
            <p:ph type="sldNum" sz="quarter" idx="7"/>
          </p:nvPr>
        </p:nvSpPr>
        <p:spPr/>
        <p:txBody>
          <a:bodyPr/>
          <a:lstStyle/>
          <a:p>
            <a:fld id="{81D60167-4931-47E6-BA6A-407CBD079E47}" type="slidenum">
              <a:rPr lang="en-US" spc="-50" dirty="0"/>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300</TotalTime>
  <Words>2219</Words>
  <Application>Microsoft Office PowerPoint</Application>
  <PresentationFormat>On-screen Show (4:3)</PresentationFormat>
  <Paragraphs>191</Paragraphs>
  <Slides>25</Slides>
  <Notes>1</Notes>
  <HiddenSlides>0</HiddenSlides>
  <MMClips>1</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vt:i4>
      </vt:variant>
    </vt:vector>
  </HeadingPairs>
  <TitlesOfParts>
    <vt:vector size="37" baseType="lpstr">
      <vt:lpstr>Aparajita</vt:lpstr>
      <vt:lpstr>Arial</vt:lpstr>
      <vt:lpstr>Book Antiqua</vt:lpstr>
      <vt:lpstr>Calibri</vt:lpstr>
      <vt:lpstr>Cambria</vt:lpstr>
      <vt:lpstr>Century Gothic</vt:lpstr>
      <vt:lpstr>Palatino Linotype</vt:lpstr>
      <vt:lpstr>Tahoma</vt:lpstr>
      <vt:lpstr>Times New Roman</vt:lpstr>
      <vt:lpstr>Verdana</vt:lpstr>
      <vt:lpstr>Wingdings</vt:lpstr>
      <vt:lpstr>Office Theme</vt:lpstr>
      <vt:lpstr>Department of Electrical and Electronics Engineering</vt:lpstr>
      <vt:lpstr>Content</vt:lpstr>
      <vt:lpstr>Introduction</vt:lpstr>
      <vt:lpstr>Literature Survey</vt:lpstr>
      <vt:lpstr>Problem Statement</vt:lpstr>
      <vt:lpstr>Objectives</vt:lpstr>
      <vt:lpstr>Methodology</vt:lpstr>
      <vt:lpstr>Work Done So Far</vt:lpstr>
      <vt:lpstr>Expected Outcomes</vt:lpstr>
      <vt:lpstr>PowerPoint Presentation</vt:lpstr>
      <vt:lpstr>PowerPoint Presentation</vt:lpstr>
      <vt:lpstr>Components required</vt:lpstr>
      <vt:lpstr>Components required</vt:lpstr>
      <vt:lpstr>HYDROGEN FUEL CELL</vt:lpstr>
      <vt:lpstr>ESP 32</vt:lpstr>
      <vt:lpstr>PowerPoint Presentation</vt:lpstr>
      <vt:lpstr>HARDWARE DEVELOPMENT OF SHIP</vt:lpstr>
      <vt:lpstr>HARDWARE DEVELOPMENT OF SHIP</vt:lpstr>
      <vt:lpstr>SINGLE LINE DIAGRAM FOR SHIP</vt:lpstr>
      <vt:lpstr>Theoretical Calculations</vt:lpstr>
      <vt:lpstr>Results and Conclusion </vt:lpstr>
      <vt:lpstr>Work Plan / timeline chart</vt:lpstr>
      <vt:lpstr>Team Role Distribution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Electrical and Electronics Engineering</dc:title>
  <dc:creator>harshitha</dc:creator>
  <cp:lastModifiedBy>srividya n</cp:lastModifiedBy>
  <cp:revision>127</cp:revision>
  <dcterms:created xsi:type="dcterms:W3CDTF">2025-12-03T17:31:06Z</dcterms:created>
  <dcterms:modified xsi:type="dcterms:W3CDTF">2026-03-12T18:48:26Z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2025-12-03T00:00:00Z</vt:filetime>
  </property>
  <property fmtid="{D5CDD505-2E9C-101B-9397-08002B2CF9AE}" pid="3" name="Creator">
    <vt:lpwstr>PDFium</vt:lpwstr>
  </property>
  <property fmtid="{D5CDD505-2E9C-101B-9397-08002B2CF9AE}" pid="4" name="Producer">
    <vt:lpwstr>PDFium</vt:lpwstr>
  </property>
  <property fmtid="{D5CDD505-2E9C-101B-9397-08002B2CF9AE}" pid="5" name="LastSaved">
    <vt:filetime>2025-12-03T00:00:00Z</vt:filetime>
  </property>
</Properties>
</file>